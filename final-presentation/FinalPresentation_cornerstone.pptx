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1370012" y="577453"/>
            <a:ext cx="7315201" cy="12513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5103812" y="1828800"/>
            <a:ext cx="3581401" cy="3314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6294578" y="4643111"/>
            <a:ext cx="258623" cy="248304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mailto:mcs252743@iitd.ac.in" TargetMode="External"/><Relationship Id="rId3" Type="http://schemas.openxmlformats.org/officeDocument/2006/relationships/hyperlink" Target="mailto:mcs252101@iitd.ac.in" TargetMode="Externa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drive.google.com/drive/folders/14eaCsZe_iCxT_sAZBL98bBglNLywE4sh" TargetMode="External"/><Relationship Id="rId3" Type="http://schemas.openxmlformats.org/officeDocument/2006/relationships/hyperlink" Target="http://github.com/ManmadhaKuttum/CornerStone_COP7001/final-presentation" TargetMode="External"/><Relationship Id="rId4" Type="http://schemas.openxmlformats.org/officeDocument/2006/relationships/hyperlink" Target="mailto:mcs252101@iitd.ac.in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-1" y="0"/>
            <a:ext cx="164594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" name="Shape 1"/>
          <p:cNvSpPr/>
          <p:nvPr/>
        </p:nvSpPr>
        <p:spPr>
          <a:xfrm>
            <a:off x="5943598" y="201167"/>
            <a:ext cx="3017523" cy="384051"/>
          </a:xfrm>
          <a:prstGeom prst="rect">
            <a:avLst/>
          </a:prstGeom>
          <a:solidFill>
            <a:srgbClr val="161B22"/>
          </a:solidFill>
          <a:ln w="12700">
            <a:solidFill>
              <a:srgbClr val="80DEEA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" name="Text 2"/>
          <p:cNvSpPr txBox="1"/>
          <p:nvPr/>
        </p:nvSpPr>
        <p:spPr>
          <a:xfrm>
            <a:off x="6035040" y="242106"/>
            <a:ext cx="2834642" cy="302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000">
                <a:solidFill>
                  <a:srgbClr val="78909C"/>
                </a:solidFill>
              </a:defRPr>
            </a:pPr>
            <a:r>
              <a:t>GitHub: </a:t>
            </a:r>
            <a:r>
              <a:rPr b="1">
                <a:solidFill>
                  <a:srgbClr val="80DEEA"/>
                </a:solidFill>
              </a:rPr>
              <a:t>github.com/ManmadhaKuttum/CornerStone_COP7001/final-presentation</a:t>
            </a:r>
          </a:p>
        </p:txBody>
      </p:sp>
      <p:sp>
        <p:nvSpPr>
          <p:cNvPr id="23" name="Text 3"/>
          <p:cNvSpPr txBox="1"/>
          <p:nvPr/>
        </p:nvSpPr>
        <p:spPr>
          <a:xfrm>
            <a:off x="320040" y="1214561"/>
            <a:ext cx="8503920" cy="542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4200">
                <a:solidFill>
                  <a:srgbClr val="FFFFFF"/>
                </a:solidFill>
              </a:defRPr>
            </a:lvl1pPr>
          </a:lstStyle>
          <a:p>
            <a:pPr/>
            <a:r>
              <a:t>Real-Time Speech Translation</a:t>
            </a:r>
          </a:p>
        </p:txBody>
      </p:sp>
      <p:sp>
        <p:nvSpPr>
          <p:cNvPr id="24" name="Text 4"/>
          <p:cNvSpPr txBox="1"/>
          <p:nvPr/>
        </p:nvSpPr>
        <p:spPr>
          <a:xfrm>
            <a:off x="320040" y="2239728"/>
            <a:ext cx="8503920" cy="2388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900">
                <a:solidFill>
                  <a:srgbClr val="80DEEA"/>
                </a:solidFill>
              </a:defRPr>
            </a:lvl1pPr>
          </a:lstStyle>
          <a:p>
            <a:pPr/>
            <a:r>
              <a:t>Hindi  →  Telugu   •   Fully Offline   •   Edge-Deployable</a:t>
            </a:r>
          </a:p>
        </p:txBody>
      </p:sp>
      <p:sp>
        <p:nvSpPr>
          <p:cNvPr id="25" name="Text 5"/>
          <p:cNvSpPr txBox="1"/>
          <p:nvPr/>
        </p:nvSpPr>
        <p:spPr>
          <a:xfrm>
            <a:off x="320040" y="2884222"/>
            <a:ext cx="850392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78909C"/>
                </a:solidFill>
              </a:defRPr>
            </a:lvl1pPr>
          </a:lstStyle>
          <a:p>
            <a:pPr/>
            <a:r>
              <a:t>COP7001 – CornerStone Project  |  Indian Institute of Technology Delhi  |  April 2026</a:t>
            </a:r>
          </a:p>
        </p:txBody>
      </p:sp>
      <p:sp>
        <p:nvSpPr>
          <p:cNvPr id="26" name="Shape 6"/>
          <p:cNvSpPr/>
          <p:nvPr/>
        </p:nvSpPr>
        <p:spPr>
          <a:xfrm>
            <a:off x="320038" y="3383279"/>
            <a:ext cx="5303523" cy="1097282"/>
          </a:xfrm>
          <a:prstGeom prst="rect">
            <a:avLst/>
          </a:prstGeom>
          <a:solidFill>
            <a:srgbClr val="071020"/>
          </a:solidFill>
          <a:ln w="19050">
            <a:solidFill>
              <a:srgbClr val="00BCD4"/>
            </a:solidFill>
          </a:ln>
          <a:effectLst>
            <a:outerShdw sx="100000" sy="100000" kx="0" ky="0" algn="b" rotWithShape="0" blurRad="127000" dist="38100" dir="81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" name="Text 7"/>
          <p:cNvSpPr txBox="1"/>
          <p:nvPr/>
        </p:nvSpPr>
        <p:spPr>
          <a:xfrm>
            <a:off x="457200" y="3582496"/>
            <a:ext cx="5029200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Jithendra</a:t>
            </a:r>
            <a:r>
              <a:rPr b="0" sz="1600">
                <a:solidFill>
                  <a:srgbClr val="78909C"/>
                </a:solidFill>
              </a:rPr>
              <a:t>  &amp;  </a:t>
            </a:r>
            <a:r>
              <a:t>Manmadha Kuttum</a:t>
            </a:r>
          </a:p>
        </p:txBody>
      </p:sp>
      <p:sp>
        <p:nvSpPr>
          <p:cNvPr id="28" name="Text 8"/>
          <p:cNvSpPr txBox="1"/>
          <p:nvPr/>
        </p:nvSpPr>
        <p:spPr>
          <a:xfrm>
            <a:off x="457200" y="4101127"/>
            <a:ext cx="502920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000"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</a:defRPr>
            </a:pPr>
            <a:r>
              <a:rPr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 invalidUrl="" action="" tgtFrame="" tooltip="" history="1" highlightClick="0" endSnd="0"/>
              </a:rPr>
              <a:t>mcs252743@iitd.ac.in</a:t>
            </a:r>
            <a:r>
              <a:rPr u="none">
                <a:solidFill>
                  <a:srgbClr val="78909C"/>
                </a:solidFill>
                <a:uFillTx/>
              </a:rPr>
              <a:t>  |  </a:t>
            </a:r>
            <a:r>
              <a:rPr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 invalidUrl="" action="" tgtFrame="" tooltip="" history="1" highlightClick="0" endSnd="0"/>
              </a:rPr>
              <a:t>mcs252101@iitd.ac.in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" name="Text 1"/>
          <p:cNvSpPr txBox="1"/>
          <p:nvPr/>
        </p:nvSpPr>
        <p:spPr>
          <a:xfrm>
            <a:off x="164592" y="45465"/>
            <a:ext cx="73152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⬛ </a:t>
            </a:r>
            <a:r>
              <a:rPr sz="900">
                <a:solidFill>
                  <a:srgbClr val="80DEEA"/>
                </a:solidFill>
              </a:rPr>
              <a:t>github.com/ManmadhaKuttum/CornerStone_COP7001</a:t>
            </a:r>
          </a:p>
        </p:txBody>
      </p:sp>
      <p:sp>
        <p:nvSpPr>
          <p:cNvPr id="32" name="Text 2"/>
          <p:cNvSpPr txBox="1"/>
          <p:nvPr/>
        </p:nvSpPr>
        <p:spPr>
          <a:xfrm>
            <a:off x="7498080" y="64514"/>
            <a:ext cx="14630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78909C"/>
                </a:solidFill>
              </a:defRPr>
            </a:lvl1pPr>
          </a:lstStyle>
          <a:p>
            <a:pPr/>
            <a:r>
              <a:t>COP7001 — IIT Delhi</a:t>
            </a:r>
          </a:p>
        </p:txBody>
      </p:sp>
      <p:sp>
        <p:nvSpPr>
          <p:cNvPr id="33" name="Text 3"/>
          <p:cNvSpPr txBox="1"/>
          <p:nvPr/>
        </p:nvSpPr>
        <p:spPr>
          <a:xfrm>
            <a:off x="365759" y="358640"/>
            <a:ext cx="8412482" cy="343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700">
                <a:solidFill>
                  <a:srgbClr val="00BCD4"/>
                </a:solidFill>
              </a:defRPr>
            </a:lvl1pPr>
          </a:lstStyle>
          <a:p>
            <a:pPr/>
            <a:r>
              <a:t>Problem Statement</a:t>
            </a:r>
          </a:p>
        </p:txBody>
      </p:sp>
      <p:sp>
        <p:nvSpPr>
          <p:cNvPr id="34" name="Shape 4"/>
          <p:cNvSpPr/>
          <p:nvPr/>
        </p:nvSpPr>
        <p:spPr>
          <a:xfrm>
            <a:off x="365759" y="795527"/>
            <a:ext cx="8412482" cy="2286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5" name="Shape 5"/>
          <p:cNvSpPr/>
          <p:nvPr/>
        </p:nvSpPr>
        <p:spPr>
          <a:xfrm>
            <a:off x="365758" y="932688"/>
            <a:ext cx="493778" cy="82296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6" name="Text 6"/>
          <p:cNvSpPr txBox="1"/>
          <p:nvPr/>
        </p:nvSpPr>
        <p:spPr>
          <a:xfrm>
            <a:off x="365758" y="1219796"/>
            <a:ext cx="493778" cy="248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0A1628"/>
                </a:solidFill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37" name="Shape 7"/>
          <p:cNvSpPr/>
          <p:nvPr/>
        </p:nvSpPr>
        <p:spPr>
          <a:xfrm>
            <a:off x="950974" y="932688"/>
            <a:ext cx="5486403" cy="822962"/>
          </a:xfrm>
          <a:prstGeom prst="rect">
            <a:avLst/>
          </a:prstGeom>
          <a:solidFill>
            <a:srgbClr val="112040"/>
          </a:solidFill>
          <a:ln w="12700">
            <a:solidFill>
              <a:srgbClr val="00BCD4"/>
            </a:solidFill>
          </a:ln>
          <a:effectLst>
            <a:outerShdw sx="100000" sy="100000" kx="0" ky="0" algn="b" rotWithShape="0" blurRad="127000" dist="38100" dir="81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" name="Text 8"/>
          <p:cNvSpPr txBox="1"/>
          <p:nvPr/>
        </p:nvSpPr>
        <p:spPr>
          <a:xfrm>
            <a:off x="1051558" y="1168331"/>
            <a:ext cx="5303523" cy="369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India has 22 official languages — real-time cross-language communication is unsolved at scale.</a:t>
            </a:r>
          </a:p>
        </p:txBody>
      </p:sp>
      <p:sp>
        <p:nvSpPr>
          <p:cNvPr id="39" name="Shape 9"/>
          <p:cNvSpPr/>
          <p:nvPr/>
        </p:nvSpPr>
        <p:spPr>
          <a:xfrm>
            <a:off x="365758" y="1984248"/>
            <a:ext cx="493778" cy="82296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" name="Text 10"/>
          <p:cNvSpPr txBox="1"/>
          <p:nvPr/>
        </p:nvSpPr>
        <p:spPr>
          <a:xfrm>
            <a:off x="365758" y="2271357"/>
            <a:ext cx="493778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0A1628"/>
                </a:solidFill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41" name="Shape 11"/>
          <p:cNvSpPr/>
          <p:nvPr/>
        </p:nvSpPr>
        <p:spPr>
          <a:xfrm>
            <a:off x="950974" y="1984248"/>
            <a:ext cx="5486403" cy="822962"/>
          </a:xfrm>
          <a:prstGeom prst="rect">
            <a:avLst/>
          </a:prstGeom>
          <a:solidFill>
            <a:srgbClr val="112040"/>
          </a:solidFill>
          <a:ln w="12700">
            <a:solidFill>
              <a:srgbClr val="00BCD4"/>
            </a:solidFill>
          </a:ln>
          <a:effectLst>
            <a:outerShdw sx="100000" sy="100000" kx="0" ky="0" algn="b" rotWithShape="0" blurRad="127000" dist="38100" dir="81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" name="Text 12"/>
          <p:cNvSpPr txBox="1"/>
          <p:nvPr/>
        </p:nvSpPr>
        <p:spPr>
          <a:xfrm>
            <a:off x="1051558" y="2219891"/>
            <a:ext cx="5303523" cy="369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Cloud solutions (Google, AWS) require internet and introduce 3–5 s latency with privacy risks.</a:t>
            </a:r>
          </a:p>
        </p:txBody>
      </p:sp>
      <p:sp>
        <p:nvSpPr>
          <p:cNvPr id="43" name="Shape 13"/>
          <p:cNvSpPr/>
          <p:nvPr/>
        </p:nvSpPr>
        <p:spPr>
          <a:xfrm>
            <a:off x="365758" y="3035806"/>
            <a:ext cx="493778" cy="82296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" name="Text 14"/>
          <p:cNvSpPr txBox="1"/>
          <p:nvPr/>
        </p:nvSpPr>
        <p:spPr>
          <a:xfrm>
            <a:off x="365758" y="3322916"/>
            <a:ext cx="493778" cy="248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0A1628"/>
                </a:solidFill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45" name="Shape 15"/>
          <p:cNvSpPr/>
          <p:nvPr/>
        </p:nvSpPr>
        <p:spPr>
          <a:xfrm>
            <a:off x="950974" y="3035806"/>
            <a:ext cx="5486403" cy="822962"/>
          </a:xfrm>
          <a:prstGeom prst="rect">
            <a:avLst/>
          </a:prstGeom>
          <a:solidFill>
            <a:srgbClr val="112040"/>
          </a:solidFill>
          <a:ln w="12700">
            <a:solidFill>
              <a:srgbClr val="00BCD4"/>
            </a:solidFill>
          </a:ln>
          <a:effectLst>
            <a:outerShdw sx="100000" sy="100000" kx="0" ky="0" algn="b" rotWithShape="0" blurRad="127000" dist="38100" dir="81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" name="Text 16"/>
          <p:cNvSpPr txBox="1"/>
          <p:nvPr/>
        </p:nvSpPr>
        <p:spPr>
          <a:xfrm>
            <a:off x="1051558" y="3271451"/>
            <a:ext cx="5303523" cy="369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No fully offline, open-source, production-ready speech translation system exists for Indian languages.</a:t>
            </a:r>
          </a:p>
        </p:txBody>
      </p:sp>
      <p:sp>
        <p:nvSpPr>
          <p:cNvPr id="47" name="Shape 17"/>
          <p:cNvSpPr/>
          <p:nvPr/>
        </p:nvSpPr>
        <p:spPr>
          <a:xfrm>
            <a:off x="6492240" y="932688"/>
            <a:ext cx="2286002" cy="822962"/>
          </a:xfrm>
          <a:prstGeom prst="rect">
            <a:avLst/>
          </a:prstGeom>
          <a:solidFill>
            <a:srgbClr val="071020"/>
          </a:solidFill>
          <a:ln w="15240">
            <a:solidFill>
              <a:srgbClr val="80DEEA"/>
            </a:solidFill>
          </a:ln>
          <a:effectLst>
            <a:outerShdw sx="100000" sy="100000" kx="0" ky="0" algn="b" rotWithShape="0" blurRad="127000" dist="38100" dir="81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" name="Text 18"/>
          <p:cNvSpPr txBox="1"/>
          <p:nvPr/>
        </p:nvSpPr>
        <p:spPr>
          <a:xfrm>
            <a:off x="6492240" y="1069183"/>
            <a:ext cx="2286002" cy="293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200">
                <a:solidFill>
                  <a:srgbClr val="00BCD4"/>
                </a:solidFill>
              </a:defRPr>
            </a:lvl1pPr>
          </a:lstStyle>
          <a:p>
            <a:pPr/>
            <a:r>
              <a:t>&lt; 2 s</a:t>
            </a:r>
          </a:p>
        </p:txBody>
      </p:sp>
      <p:sp>
        <p:nvSpPr>
          <p:cNvPr id="49" name="Text 19"/>
          <p:cNvSpPr txBox="1"/>
          <p:nvPr/>
        </p:nvSpPr>
        <p:spPr>
          <a:xfrm>
            <a:off x="6492240" y="1522519"/>
            <a:ext cx="228600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78909C"/>
                </a:solidFill>
              </a:defRPr>
            </a:lvl1pPr>
          </a:lstStyle>
          <a:p>
            <a:pPr/>
            <a:r>
              <a:t>Latency Target</a:t>
            </a:r>
          </a:p>
        </p:txBody>
      </p:sp>
      <p:sp>
        <p:nvSpPr>
          <p:cNvPr id="50" name="Shape 20"/>
          <p:cNvSpPr/>
          <p:nvPr/>
        </p:nvSpPr>
        <p:spPr>
          <a:xfrm>
            <a:off x="6492240" y="1984248"/>
            <a:ext cx="2286002" cy="822962"/>
          </a:xfrm>
          <a:prstGeom prst="rect">
            <a:avLst/>
          </a:prstGeom>
          <a:solidFill>
            <a:srgbClr val="071020"/>
          </a:solidFill>
          <a:ln w="15240">
            <a:solidFill>
              <a:srgbClr val="80DEEA"/>
            </a:solidFill>
          </a:ln>
          <a:effectLst>
            <a:outerShdw sx="100000" sy="100000" kx="0" ky="0" algn="b" rotWithShape="0" blurRad="127000" dist="38100" dir="81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" name="Text 21"/>
          <p:cNvSpPr txBox="1"/>
          <p:nvPr/>
        </p:nvSpPr>
        <p:spPr>
          <a:xfrm>
            <a:off x="6492240" y="2120743"/>
            <a:ext cx="2286002" cy="293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200">
                <a:solidFill>
                  <a:srgbClr val="00BCD4"/>
                </a:solidFill>
              </a:defRPr>
            </a:lvl1pPr>
          </a:lstStyle>
          <a:p>
            <a:pPr/>
            <a:r>
              <a:t>100%</a:t>
            </a:r>
          </a:p>
        </p:txBody>
      </p:sp>
      <p:sp>
        <p:nvSpPr>
          <p:cNvPr id="52" name="Text 22"/>
          <p:cNvSpPr txBox="1"/>
          <p:nvPr/>
        </p:nvSpPr>
        <p:spPr>
          <a:xfrm>
            <a:off x="6492240" y="2574080"/>
            <a:ext cx="228600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78909C"/>
                </a:solidFill>
              </a:defRPr>
            </a:lvl1pPr>
          </a:lstStyle>
          <a:p>
            <a:pPr/>
            <a:r>
              <a:t>Offline</a:t>
            </a:r>
          </a:p>
        </p:txBody>
      </p:sp>
      <p:sp>
        <p:nvSpPr>
          <p:cNvPr id="53" name="Shape 23"/>
          <p:cNvSpPr/>
          <p:nvPr/>
        </p:nvSpPr>
        <p:spPr>
          <a:xfrm>
            <a:off x="6492240" y="3035806"/>
            <a:ext cx="2286002" cy="822962"/>
          </a:xfrm>
          <a:prstGeom prst="rect">
            <a:avLst/>
          </a:prstGeom>
          <a:solidFill>
            <a:srgbClr val="071020"/>
          </a:solidFill>
          <a:ln w="15240">
            <a:solidFill>
              <a:srgbClr val="80DEEA"/>
            </a:solidFill>
          </a:ln>
          <a:effectLst>
            <a:outerShdw sx="100000" sy="100000" kx="0" ky="0" algn="b" rotWithShape="0" blurRad="127000" dist="38100" dir="81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" name="Text 24"/>
          <p:cNvSpPr txBox="1"/>
          <p:nvPr/>
        </p:nvSpPr>
        <p:spPr>
          <a:xfrm>
            <a:off x="6492240" y="3172304"/>
            <a:ext cx="2286002" cy="293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200">
                <a:solidFill>
                  <a:srgbClr val="00BCD4"/>
                </a:solidFill>
              </a:defRPr>
            </a:lvl1pPr>
          </a:lstStyle>
          <a:p>
            <a:pPr/>
            <a:r>
              <a:t>Hi→Te</a:t>
            </a:r>
          </a:p>
        </p:txBody>
      </p:sp>
      <p:sp>
        <p:nvSpPr>
          <p:cNvPr id="55" name="Text 25"/>
          <p:cNvSpPr txBox="1"/>
          <p:nvPr/>
        </p:nvSpPr>
        <p:spPr>
          <a:xfrm>
            <a:off x="6492240" y="3625639"/>
            <a:ext cx="228600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78909C"/>
                </a:solidFill>
              </a:defRPr>
            </a:lvl1pPr>
          </a:lstStyle>
          <a:p>
            <a:pPr/>
            <a:r>
              <a:t>Language Pair</a:t>
            </a:r>
          </a:p>
        </p:txBody>
      </p:sp>
      <p:sp>
        <p:nvSpPr>
          <p:cNvPr id="56" name="Shape 26"/>
          <p:cNvSpPr/>
          <p:nvPr/>
        </p:nvSpPr>
        <p:spPr>
          <a:xfrm>
            <a:off x="365759" y="4187952"/>
            <a:ext cx="8412482" cy="640082"/>
          </a:xfrm>
          <a:prstGeom prst="rect">
            <a:avLst/>
          </a:prstGeom>
          <a:solidFill>
            <a:srgbClr val="071020"/>
          </a:solidFill>
          <a:ln w="12700">
            <a:solidFill>
              <a:srgbClr val="80DEEA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" name="Text 27"/>
          <p:cNvSpPr txBox="1"/>
          <p:nvPr/>
        </p:nvSpPr>
        <p:spPr>
          <a:xfrm>
            <a:off x="475488" y="4411271"/>
            <a:ext cx="8193024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80DEEA"/>
                </a:solidFill>
              </a:defRPr>
            </a:lvl1pPr>
          </a:lstStyle>
          <a:p>
            <a:pPr/>
            <a:r>
              <a:t>→  Goal: Build a fully offline, real-time Hindi→Telugu speech translation system with &lt; 2 s end-to-end latency, no internet, no cloud.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" name="Text 1"/>
          <p:cNvSpPr txBox="1"/>
          <p:nvPr/>
        </p:nvSpPr>
        <p:spPr>
          <a:xfrm>
            <a:off x="164592" y="45465"/>
            <a:ext cx="73152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⬛ </a:t>
            </a:r>
            <a:r>
              <a:rPr sz="900">
                <a:solidFill>
                  <a:srgbClr val="80DEEA"/>
                </a:solidFill>
              </a:rPr>
              <a:t>github.com/ManmadhaKuttum/CornerStone_COP7001</a:t>
            </a:r>
          </a:p>
        </p:txBody>
      </p:sp>
      <p:sp>
        <p:nvSpPr>
          <p:cNvPr id="61" name="Text 2"/>
          <p:cNvSpPr txBox="1"/>
          <p:nvPr/>
        </p:nvSpPr>
        <p:spPr>
          <a:xfrm>
            <a:off x="7498080" y="64514"/>
            <a:ext cx="14630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78909C"/>
                </a:solidFill>
              </a:defRPr>
            </a:lvl1pPr>
          </a:lstStyle>
          <a:p>
            <a:pPr/>
            <a:r>
              <a:t>COP7001 — IIT Delhi</a:t>
            </a:r>
          </a:p>
        </p:txBody>
      </p:sp>
      <p:sp>
        <p:nvSpPr>
          <p:cNvPr id="62" name="Text 3"/>
          <p:cNvSpPr txBox="1"/>
          <p:nvPr/>
        </p:nvSpPr>
        <p:spPr>
          <a:xfrm>
            <a:off x="365759" y="358640"/>
            <a:ext cx="8412482" cy="343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700">
                <a:solidFill>
                  <a:srgbClr val="00BCD4"/>
                </a:solidFill>
              </a:defRPr>
            </a:lvl1pPr>
          </a:lstStyle>
          <a:p>
            <a:pPr/>
            <a:r>
              <a:t>System Architecture — Producer–Consumer Pipeline</a:t>
            </a:r>
          </a:p>
        </p:txBody>
      </p:sp>
      <p:sp>
        <p:nvSpPr>
          <p:cNvPr id="63" name="Shape 4"/>
          <p:cNvSpPr/>
          <p:nvPr/>
        </p:nvSpPr>
        <p:spPr>
          <a:xfrm>
            <a:off x="365759" y="795527"/>
            <a:ext cx="8412482" cy="2286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" name="Shape 5"/>
          <p:cNvSpPr/>
          <p:nvPr/>
        </p:nvSpPr>
        <p:spPr>
          <a:xfrm>
            <a:off x="365759" y="1005838"/>
            <a:ext cx="1508762" cy="804675"/>
          </a:xfrm>
          <a:prstGeom prst="rect">
            <a:avLst/>
          </a:prstGeom>
          <a:solidFill>
            <a:srgbClr val="112040"/>
          </a:solidFill>
          <a:ln w="22860">
            <a:solidFill>
              <a:srgbClr val="00BCD4"/>
            </a:solidFill>
          </a:ln>
          <a:effectLst>
            <a:outerShdw sx="100000" sy="100000" kx="0" ky="0" algn="b" rotWithShape="0" blurRad="127000" dist="38100" dir="81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" name="Shape 6"/>
          <p:cNvSpPr/>
          <p:nvPr/>
        </p:nvSpPr>
        <p:spPr>
          <a:xfrm>
            <a:off x="365759" y="1005838"/>
            <a:ext cx="1508762" cy="256033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" name="Text 7"/>
          <p:cNvSpPr txBox="1"/>
          <p:nvPr/>
        </p:nvSpPr>
        <p:spPr>
          <a:xfrm>
            <a:off x="365759" y="1070355"/>
            <a:ext cx="1508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0A1628"/>
                </a:solidFill>
              </a:defRPr>
            </a:lvl1pPr>
          </a:lstStyle>
          <a:p>
            <a:pPr/>
            <a:r>
              <a:t>MIC</a:t>
            </a:r>
          </a:p>
        </p:txBody>
      </p:sp>
      <p:sp>
        <p:nvSpPr>
          <p:cNvPr id="67" name="Text 8"/>
          <p:cNvSpPr txBox="1"/>
          <p:nvPr/>
        </p:nvSpPr>
        <p:spPr>
          <a:xfrm>
            <a:off x="321181" y="1340923"/>
            <a:ext cx="1508762" cy="369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Audio</a:t>
            </a:r>
          </a:p>
          <a:p>
            <a:pPr algn="ctr">
              <a:defRPr b="1" sz="1300">
                <a:solidFill>
                  <a:srgbClr val="FFFFFF"/>
                </a:solidFill>
              </a:defRPr>
            </a:pPr>
            <a:r>
              <a:t>Capture</a:t>
            </a:r>
          </a:p>
        </p:txBody>
      </p:sp>
      <p:sp>
        <p:nvSpPr>
          <p:cNvPr id="68" name="Text 9"/>
          <p:cNvSpPr txBox="1"/>
          <p:nvPr/>
        </p:nvSpPr>
        <p:spPr>
          <a:xfrm>
            <a:off x="365759" y="1906945"/>
            <a:ext cx="1508762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900">
                <a:solidFill>
                  <a:srgbClr val="80DEEA"/>
                </a:solidFill>
              </a:defRPr>
            </a:pPr>
            <a:r>
              <a:t>src/audio.py</a:t>
            </a:r>
          </a:p>
          <a:p>
            <a:pPr algn="ctr">
              <a:defRPr sz="900">
                <a:solidFill>
                  <a:srgbClr val="80DEEA"/>
                </a:solidFill>
              </a:defRPr>
            </a:pPr>
            <a:r>
              <a:t>16 kHz · 32 ms</a:t>
            </a:r>
          </a:p>
        </p:txBody>
      </p:sp>
      <p:sp>
        <p:nvSpPr>
          <p:cNvPr id="69" name="Shape 10"/>
          <p:cNvSpPr/>
          <p:nvPr/>
        </p:nvSpPr>
        <p:spPr>
          <a:xfrm>
            <a:off x="1960879" y="1228275"/>
            <a:ext cx="1051562" cy="256033"/>
          </a:xfrm>
          <a:prstGeom prst="rect">
            <a:avLst/>
          </a:prstGeom>
          <a:solidFill>
            <a:srgbClr val="1A3050"/>
          </a:solidFill>
          <a:ln w="10160">
            <a:solidFill>
              <a:srgbClr val="80DEEA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" name="Text 11"/>
          <p:cNvSpPr txBox="1"/>
          <p:nvPr/>
        </p:nvSpPr>
        <p:spPr>
          <a:xfrm>
            <a:off x="1955544" y="1292790"/>
            <a:ext cx="10515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80DEEA"/>
                </a:solidFill>
              </a:defRPr>
            </a:lvl1pPr>
          </a:lstStyle>
          <a:p>
            <a:pPr/>
            <a:r>
              <a:t>audio_queue</a:t>
            </a:r>
          </a:p>
        </p:txBody>
      </p:sp>
      <p:sp>
        <p:nvSpPr>
          <p:cNvPr id="71" name="Shape 12"/>
          <p:cNvSpPr/>
          <p:nvPr/>
        </p:nvSpPr>
        <p:spPr>
          <a:xfrm>
            <a:off x="1874518" y="1473961"/>
            <a:ext cx="1554482" cy="2"/>
          </a:xfrm>
          <a:prstGeom prst="line">
            <a:avLst/>
          </a:prstGeom>
          <a:ln w="27940">
            <a:solidFill>
              <a:srgbClr val="00BCD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" name="Text 13"/>
          <p:cNvSpPr txBox="1"/>
          <p:nvPr/>
        </p:nvSpPr>
        <p:spPr>
          <a:xfrm>
            <a:off x="3319271" y="1400384"/>
            <a:ext cx="18288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00BCD4"/>
                </a:solidFill>
              </a:defRPr>
            </a:lvl1pPr>
          </a:lstStyle>
          <a:p>
            <a:pPr/>
            <a:r>
              <a:t>▶</a:t>
            </a:r>
          </a:p>
        </p:txBody>
      </p:sp>
      <p:sp>
        <p:nvSpPr>
          <p:cNvPr id="73" name="Shape 14"/>
          <p:cNvSpPr/>
          <p:nvPr/>
        </p:nvSpPr>
        <p:spPr>
          <a:xfrm>
            <a:off x="3483864" y="1005838"/>
            <a:ext cx="1508762" cy="804675"/>
          </a:xfrm>
          <a:prstGeom prst="rect">
            <a:avLst/>
          </a:prstGeom>
          <a:solidFill>
            <a:srgbClr val="112040"/>
          </a:solidFill>
          <a:ln w="22860">
            <a:solidFill>
              <a:srgbClr val="00BCD4"/>
            </a:solidFill>
          </a:ln>
          <a:effectLst>
            <a:outerShdw sx="100000" sy="100000" kx="0" ky="0" algn="b" rotWithShape="0" blurRad="127000" dist="38100" dir="81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" name="Shape 15"/>
          <p:cNvSpPr/>
          <p:nvPr/>
        </p:nvSpPr>
        <p:spPr>
          <a:xfrm>
            <a:off x="3483864" y="1005838"/>
            <a:ext cx="1508762" cy="256033"/>
          </a:xfrm>
          <a:prstGeom prst="rect">
            <a:avLst/>
          </a:prstGeom>
          <a:solidFill>
            <a:srgbClr val="005F6B"/>
          </a:solidFill>
          <a:ln w="12700">
            <a:solidFill>
              <a:srgbClr val="005F6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" name="Text 16"/>
          <p:cNvSpPr txBox="1"/>
          <p:nvPr/>
        </p:nvSpPr>
        <p:spPr>
          <a:xfrm>
            <a:off x="3483864" y="1070355"/>
            <a:ext cx="1508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VAD</a:t>
            </a:r>
          </a:p>
        </p:txBody>
      </p:sp>
      <p:sp>
        <p:nvSpPr>
          <p:cNvPr id="76" name="Text 17"/>
          <p:cNvSpPr txBox="1"/>
          <p:nvPr/>
        </p:nvSpPr>
        <p:spPr>
          <a:xfrm>
            <a:off x="3489007" y="1334302"/>
            <a:ext cx="1508762" cy="369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Segmenter</a:t>
            </a:r>
          </a:p>
          <a:p>
            <a:pPr algn="ctr">
              <a:defRPr b="1" sz="1300">
                <a:solidFill>
                  <a:srgbClr val="FFFFFF"/>
                </a:solidFill>
              </a:defRPr>
            </a:pPr>
            <a:r>
              <a:t>(VAD)</a:t>
            </a:r>
          </a:p>
        </p:txBody>
      </p:sp>
      <p:sp>
        <p:nvSpPr>
          <p:cNvPr id="77" name="Text 18"/>
          <p:cNvSpPr txBox="1"/>
          <p:nvPr/>
        </p:nvSpPr>
        <p:spPr>
          <a:xfrm>
            <a:off x="3483864" y="1906945"/>
            <a:ext cx="1508762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900">
                <a:solidFill>
                  <a:srgbClr val="80DEEA"/>
                </a:solidFill>
              </a:defRPr>
            </a:pPr>
            <a:r>
              <a:t>src/segmenter.py</a:t>
            </a:r>
          </a:p>
          <a:p>
            <a:pPr algn="ctr">
              <a:defRPr sz="900">
                <a:solidFill>
                  <a:srgbClr val="80DEEA"/>
                </a:solidFill>
              </a:defRPr>
            </a:pPr>
            <a:r>
              <a:t>Silero-VAD · Energy</a:t>
            </a:r>
          </a:p>
        </p:txBody>
      </p:sp>
      <p:sp>
        <p:nvSpPr>
          <p:cNvPr id="78" name="Shape 19"/>
          <p:cNvSpPr/>
          <p:nvPr/>
        </p:nvSpPr>
        <p:spPr>
          <a:xfrm>
            <a:off x="5078729" y="1178745"/>
            <a:ext cx="1051562" cy="256033"/>
          </a:xfrm>
          <a:prstGeom prst="rect">
            <a:avLst/>
          </a:prstGeom>
          <a:solidFill>
            <a:srgbClr val="1A3050"/>
          </a:solidFill>
          <a:ln w="10160">
            <a:solidFill>
              <a:srgbClr val="80DEEA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" name="Text 20"/>
          <p:cNvSpPr txBox="1"/>
          <p:nvPr/>
        </p:nvSpPr>
        <p:spPr>
          <a:xfrm>
            <a:off x="5083809" y="1292790"/>
            <a:ext cx="10515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80DEEA"/>
                </a:solidFill>
              </a:defRPr>
            </a:lvl1pPr>
          </a:lstStyle>
          <a:p>
            <a:pPr/>
            <a:r>
              <a:t>asr_queue</a:t>
            </a:r>
          </a:p>
        </p:txBody>
      </p:sp>
      <p:sp>
        <p:nvSpPr>
          <p:cNvPr id="80" name="Shape 21"/>
          <p:cNvSpPr/>
          <p:nvPr/>
        </p:nvSpPr>
        <p:spPr>
          <a:xfrm>
            <a:off x="5046345" y="1475993"/>
            <a:ext cx="1554482" cy="2"/>
          </a:xfrm>
          <a:prstGeom prst="line">
            <a:avLst/>
          </a:prstGeom>
          <a:ln w="27940">
            <a:solidFill>
              <a:srgbClr val="00BCD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" name="Text 22"/>
          <p:cNvSpPr txBox="1"/>
          <p:nvPr/>
        </p:nvSpPr>
        <p:spPr>
          <a:xfrm>
            <a:off x="6493383" y="1400384"/>
            <a:ext cx="18288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00BCD4"/>
                </a:solidFill>
              </a:defRPr>
            </a:lvl1pPr>
          </a:lstStyle>
          <a:p>
            <a:pPr/>
            <a:r>
              <a:t>▶</a:t>
            </a:r>
          </a:p>
        </p:txBody>
      </p:sp>
      <p:sp>
        <p:nvSpPr>
          <p:cNvPr id="82" name="Shape 23"/>
          <p:cNvSpPr/>
          <p:nvPr/>
        </p:nvSpPr>
        <p:spPr>
          <a:xfrm>
            <a:off x="6601968" y="1005838"/>
            <a:ext cx="1508762" cy="804675"/>
          </a:xfrm>
          <a:prstGeom prst="rect">
            <a:avLst/>
          </a:prstGeom>
          <a:solidFill>
            <a:srgbClr val="112040"/>
          </a:solidFill>
          <a:ln w="22860">
            <a:solidFill>
              <a:srgbClr val="00BCD4"/>
            </a:solidFill>
          </a:ln>
          <a:effectLst>
            <a:outerShdw sx="100000" sy="100000" kx="0" ky="0" algn="b" rotWithShape="0" blurRad="127000" dist="38100" dir="81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" name="Shape 24"/>
          <p:cNvSpPr/>
          <p:nvPr/>
        </p:nvSpPr>
        <p:spPr>
          <a:xfrm>
            <a:off x="6601968" y="1005838"/>
            <a:ext cx="1508762" cy="256033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" name="Text 25"/>
          <p:cNvSpPr txBox="1"/>
          <p:nvPr/>
        </p:nvSpPr>
        <p:spPr>
          <a:xfrm>
            <a:off x="6601968" y="1070355"/>
            <a:ext cx="1508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ASR</a:t>
            </a:r>
          </a:p>
        </p:txBody>
      </p:sp>
      <p:sp>
        <p:nvSpPr>
          <p:cNvPr id="85" name="Text 26"/>
          <p:cNvSpPr txBox="1"/>
          <p:nvPr/>
        </p:nvSpPr>
        <p:spPr>
          <a:xfrm>
            <a:off x="6613397" y="1346487"/>
            <a:ext cx="1508762" cy="369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ASR</a:t>
            </a:r>
          </a:p>
          <a:p>
            <a:pPr algn="ctr">
              <a:defRPr b="1" sz="1300">
                <a:solidFill>
                  <a:srgbClr val="FFFFFF"/>
                </a:solidFill>
              </a:defRPr>
            </a:pPr>
            <a:r>
              <a:t>(Whisper)</a:t>
            </a:r>
          </a:p>
        </p:txBody>
      </p:sp>
      <p:sp>
        <p:nvSpPr>
          <p:cNvPr id="86" name="Text 27"/>
          <p:cNvSpPr txBox="1"/>
          <p:nvPr/>
        </p:nvSpPr>
        <p:spPr>
          <a:xfrm>
            <a:off x="6599681" y="1840670"/>
            <a:ext cx="1508762" cy="254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900">
                <a:solidFill>
                  <a:srgbClr val="80DEEA"/>
                </a:solidFill>
              </a:defRPr>
            </a:pPr>
            <a:r>
              <a:t>src/asr.py</a:t>
            </a:r>
          </a:p>
          <a:p>
            <a:pPr algn="ctr">
              <a:defRPr sz="900">
                <a:solidFill>
                  <a:srgbClr val="80DEEA"/>
                </a:solidFill>
              </a:defRPr>
            </a:pPr>
            <a:r>
              <a:t>Faster-Whisper small</a:t>
            </a:r>
          </a:p>
        </p:txBody>
      </p:sp>
      <p:sp>
        <p:nvSpPr>
          <p:cNvPr id="87" name="Shape 28"/>
          <p:cNvSpPr/>
          <p:nvPr/>
        </p:nvSpPr>
        <p:spPr>
          <a:xfrm>
            <a:off x="8165592" y="1408174"/>
            <a:ext cx="310898" cy="2"/>
          </a:xfrm>
          <a:prstGeom prst="line">
            <a:avLst/>
          </a:prstGeom>
          <a:ln w="27940">
            <a:solidFill>
              <a:srgbClr val="00BCD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" name="Text 29"/>
          <p:cNvSpPr txBox="1"/>
          <p:nvPr/>
        </p:nvSpPr>
        <p:spPr>
          <a:xfrm>
            <a:off x="8330183" y="1322322"/>
            <a:ext cx="18288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00BCD4"/>
                </a:solidFill>
              </a:defRPr>
            </a:lvl1pPr>
          </a:lstStyle>
          <a:p>
            <a:pPr/>
            <a:r>
              <a:t>▶</a:t>
            </a:r>
          </a:p>
        </p:txBody>
      </p:sp>
      <p:sp>
        <p:nvSpPr>
          <p:cNvPr id="89" name="Shape 30"/>
          <p:cNvSpPr/>
          <p:nvPr/>
        </p:nvSpPr>
        <p:spPr>
          <a:xfrm>
            <a:off x="8421623" y="1430746"/>
            <a:ext cx="2" cy="1719075"/>
          </a:xfrm>
          <a:prstGeom prst="line">
            <a:avLst/>
          </a:prstGeom>
          <a:ln w="27940">
            <a:solidFill>
              <a:srgbClr val="00BCD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" name="Shape 31"/>
          <p:cNvSpPr/>
          <p:nvPr/>
        </p:nvSpPr>
        <p:spPr>
          <a:xfrm>
            <a:off x="7141209" y="2212068"/>
            <a:ext cx="1143002" cy="256033"/>
          </a:xfrm>
          <a:prstGeom prst="rect">
            <a:avLst/>
          </a:prstGeom>
          <a:solidFill>
            <a:srgbClr val="1A3050"/>
          </a:solidFill>
          <a:ln w="10160">
            <a:solidFill>
              <a:srgbClr val="80DEEA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" name="Text 32"/>
          <p:cNvSpPr txBox="1"/>
          <p:nvPr/>
        </p:nvSpPr>
        <p:spPr>
          <a:xfrm>
            <a:off x="7146289" y="2236395"/>
            <a:ext cx="1143002" cy="231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80DEEA"/>
                </a:solidFill>
              </a:defRPr>
            </a:pPr>
            <a:r>
              <a:t>trans_text</a:t>
            </a:r>
          </a:p>
          <a:p>
            <a:pPr algn="ctr">
              <a:defRPr sz="800">
                <a:solidFill>
                  <a:srgbClr val="80DEEA"/>
                </a:solidFill>
              </a:defRPr>
            </a:pPr>
            <a:r>
              <a:t>_queue</a:t>
            </a:r>
          </a:p>
        </p:txBody>
      </p:sp>
      <p:sp>
        <p:nvSpPr>
          <p:cNvPr id="92" name="Text 33"/>
          <p:cNvSpPr txBox="1"/>
          <p:nvPr/>
        </p:nvSpPr>
        <p:spPr>
          <a:xfrm>
            <a:off x="8183880" y="2993388"/>
            <a:ext cx="20117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00BCD4"/>
                </a:solidFill>
              </a:defRPr>
            </a:lvl1pPr>
          </a:lstStyle>
          <a:p>
            <a:pPr/>
            <a:r>
              <a:t>▼</a:t>
            </a:r>
          </a:p>
        </p:txBody>
      </p:sp>
      <p:sp>
        <p:nvSpPr>
          <p:cNvPr id="93" name="Shape 34"/>
          <p:cNvSpPr/>
          <p:nvPr/>
        </p:nvSpPr>
        <p:spPr>
          <a:xfrm>
            <a:off x="5047488" y="3127248"/>
            <a:ext cx="3227834" cy="2"/>
          </a:xfrm>
          <a:prstGeom prst="line">
            <a:avLst/>
          </a:prstGeom>
          <a:ln w="27940">
            <a:solidFill>
              <a:srgbClr val="00BCD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" name="Text 35"/>
          <p:cNvSpPr txBox="1"/>
          <p:nvPr/>
        </p:nvSpPr>
        <p:spPr>
          <a:xfrm>
            <a:off x="4992623" y="3063748"/>
            <a:ext cx="1828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00BCD4"/>
                </a:solidFill>
              </a:defRPr>
            </a:lvl1pPr>
          </a:lstStyle>
          <a:p>
            <a:pPr/>
            <a:r>
              <a:t>◀</a:t>
            </a:r>
          </a:p>
        </p:txBody>
      </p:sp>
      <p:sp>
        <p:nvSpPr>
          <p:cNvPr id="95" name="Shape 36"/>
          <p:cNvSpPr/>
          <p:nvPr/>
        </p:nvSpPr>
        <p:spPr>
          <a:xfrm>
            <a:off x="3483864" y="2724910"/>
            <a:ext cx="1508762" cy="804675"/>
          </a:xfrm>
          <a:prstGeom prst="rect">
            <a:avLst/>
          </a:prstGeom>
          <a:solidFill>
            <a:srgbClr val="112040"/>
          </a:solidFill>
          <a:ln w="22860">
            <a:solidFill>
              <a:srgbClr val="00BCD4"/>
            </a:solidFill>
          </a:ln>
          <a:effectLst>
            <a:outerShdw sx="100000" sy="100000" kx="0" ky="0" algn="b" rotWithShape="0" blurRad="127000" dist="38100" dir="81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" name="Shape 37"/>
          <p:cNvSpPr/>
          <p:nvPr/>
        </p:nvSpPr>
        <p:spPr>
          <a:xfrm>
            <a:off x="3483864" y="2724911"/>
            <a:ext cx="1508762" cy="256032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" name="Text 38"/>
          <p:cNvSpPr txBox="1"/>
          <p:nvPr/>
        </p:nvSpPr>
        <p:spPr>
          <a:xfrm>
            <a:off x="3483864" y="2789427"/>
            <a:ext cx="1508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NMT</a:t>
            </a:r>
          </a:p>
        </p:txBody>
      </p:sp>
      <p:sp>
        <p:nvSpPr>
          <p:cNvPr id="98" name="Text 39"/>
          <p:cNvSpPr txBox="1"/>
          <p:nvPr/>
        </p:nvSpPr>
        <p:spPr>
          <a:xfrm>
            <a:off x="3489007" y="3046721"/>
            <a:ext cx="1508762" cy="369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Translation</a:t>
            </a:r>
          </a:p>
          <a:p>
            <a:pPr algn="ctr">
              <a:defRPr b="1" sz="1300">
                <a:solidFill>
                  <a:srgbClr val="FFFFFF"/>
                </a:solidFill>
              </a:defRPr>
            </a:pPr>
            <a:r>
              <a:t>(NLLB)</a:t>
            </a:r>
          </a:p>
        </p:txBody>
      </p:sp>
      <p:sp>
        <p:nvSpPr>
          <p:cNvPr id="99" name="Text 40"/>
          <p:cNvSpPr txBox="1"/>
          <p:nvPr/>
        </p:nvSpPr>
        <p:spPr>
          <a:xfrm>
            <a:off x="3483864" y="2409230"/>
            <a:ext cx="1508762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900">
                <a:solidFill>
                  <a:srgbClr val="80DEEA"/>
                </a:solidFill>
              </a:defRPr>
            </a:pPr>
            <a:r>
              <a:t>src/translation.py</a:t>
            </a:r>
          </a:p>
          <a:p>
            <a:pPr algn="ctr">
              <a:defRPr sz="900">
                <a:solidFill>
                  <a:srgbClr val="80DEEA"/>
                </a:solidFill>
              </a:defRPr>
            </a:pPr>
            <a:r>
              <a:t>CTranslate2 int8</a:t>
            </a:r>
          </a:p>
        </p:txBody>
      </p:sp>
      <p:sp>
        <p:nvSpPr>
          <p:cNvPr id="100" name="Shape 41"/>
          <p:cNvSpPr/>
          <p:nvPr/>
        </p:nvSpPr>
        <p:spPr>
          <a:xfrm>
            <a:off x="1960879" y="3238533"/>
            <a:ext cx="1051562" cy="256033"/>
          </a:xfrm>
          <a:prstGeom prst="rect">
            <a:avLst/>
          </a:prstGeom>
          <a:solidFill>
            <a:srgbClr val="1A3050"/>
          </a:solidFill>
          <a:ln w="10160">
            <a:solidFill>
              <a:srgbClr val="80DEEA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" name="Text 42"/>
          <p:cNvSpPr txBox="1"/>
          <p:nvPr/>
        </p:nvSpPr>
        <p:spPr>
          <a:xfrm>
            <a:off x="1965960" y="3303049"/>
            <a:ext cx="10515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80DEEA"/>
                </a:solidFill>
              </a:defRPr>
            </a:lvl1pPr>
          </a:lstStyle>
          <a:p>
            <a:pPr/>
            <a:r>
              <a:t>tts_text_queue</a:t>
            </a:r>
          </a:p>
        </p:txBody>
      </p:sp>
      <p:sp>
        <p:nvSpPr>
          <p:cNvPr id="102" name="Shape 43"/>
          <p:cNvSpPr/>
          <p:nvPr/>
        </p:nvSpPr>
        <p:spPr>
          <a:xfrm>
            <a:off x="1897378" y="3141217"/>
            <a:ext cx="1536194" cy="2"/>
          </a:xfrm>
          <a:prstGeom prst="line">
            <a:avLst/>
          </a:prstGeom>
          <a:ln w="27940">
            <a:solidFill>
              <a:srgbClr val="00BCD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" name="Text 44"/>
          <p:cNvSpPr txBox="1"/>
          <p:nvPr/>
        </p:nvSpPr>
        <p:spPr>
          <a:xfrm>
            <a:off x="3319271" y="3057398"/>
            <a:ext cx="18288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00BCD4"/>
                </a:solidFill>
              </a:defRPr>
            </a:lvl1pPr>
          </a:lstStyle>
          <a:p>
            <a:pPr/>
            <a:r>
              <a:t>▶</a:t>
            </a:r>
          </a:p>
        </p:txBody>
      </p:sp>
      <p:sp>
        <p:nvSpPr>
          <p:cNvPr id="104" name="Text 45"/>
          <p:cNvSpPr txBox="1"/>
          <p:nvPr/>
        </p:nvSpPr>
        <p:spPr>
          <a:xfrm>
            <a:off x="1874520" y="3063748"/>
            <a:ext cx="1828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00BCD4"/>
                </a:solidFill>
              </a:defRPr>
            </a:lvl1pPr>
          </a:lstStyle>
          <a:p>
            <a:pPr/>
            <a:r>
              <a:t>◀</a:t>
            </a:r>
          </a:p>
        </p:txBody>
      </p:sp>
      <p:sp>
        <p:nvSpPr>
          <p:cNvPr id="105" name="Shape 46"/>
          <p:cNvSpPr/>
          <p:nvPr/>
        </p:nvSpPr>
        <p:spPr>
          <a:xfrm>
            <a:off x="365759" y="2724910"/>
            <a:ext cx="1508762" cy="804675"/>
          </a:xfrm>
          <a:prstGeom prst="rect">
            <a:avLst/>
          </a:prstGeom>
          <a:solidFill>
            <a:srgbClr val="112040"/>
          </a:solidFill>
          <a:ln w="22860">
            <a:solidFill>
              <a:srgbClr val="00BCD4"/>
            </a:solidFill>
          </a:ln>
          <a:effectLst>
            <a:outerShdw sx="100000" sy="100000" kx="0" ky="0" algn="b" rotWithShape="0" blurRad="127000" dist="38100" dir="81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" name="Shape 47"/>
          <p:cNvSpPr/>
          <p:nvPr/>
        </p:nvSpPr>
        <p:spPr>
          <a:xfrm>
            <a:off x="365759" y="2724911"/>
            <a:ext cx="1508762" cy="256032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" name="Text 48"/>
          <p:cNvSpPr txBox="1"/>
          <p:nvPr/>
        </p:nvSpPr>
        <p:spPr>
          <a:xfrm>
            <a:off x="377188" y="2788099"/>
            <a:ext cx="1508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TTS</a:t>
            </a:r>
          </a:p>
        </p:txBody>
      </p:sp>
      <p:sp>
        <p:nvSpPr>
          <p:cNvPr id="108" name="Text 49"/>
          <p:cNvSpPr txBox="1"/>
          <p:nvPr/>
        </p:nvSpPr>
        <p:spPr>
          <a:xfrm>
            <a:off x="365758" y="3046721"/>
            <a:ext cx="1508763" cy="369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TTS</a:t>
            </a:r>
          </a:p>
          <a:p>
            <a:pPr algn="ctr">
              <a:defRPr b="1" sz="1300">
                <a:solidFill>
                  <a:srgbClr val="FFFFFF"/>
                </a:solidFill>
              </a:defRPr>
            </a:pPr>
            <a:r>
              <a:t>(MMS-VITS)</a:t>
            </a:r>
          </a:p>
        </p:txBody>
      </p:sp>
      <p:sp>
        <p:nvSpPr>
          <p:cNvPr id="109" name="Text 50"/>
          <p:cNvSpPr txBox="1"/>
          <p:nvPr/>
        </p:nvSpPr>
        <p:spPr>
          <a:xfrm>
            <a:off x="365759" y="2409230"/>
            <a:ext cx="1508762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900">
                <a:solidFill>
                  <a:srgbClr val="80DEEA"/>
                </a:solidFill>
              </a:defRPr>
            </a:pPr>
            <a:r>
              <a:t>src/tts.py</a:t>
            </a:r>
          </a:p>
          <a:p>
            <a:pPr algn="ctr">
              <a:defRPr sz="900">
                <a:solidFill>
                  <a:srgbClr val="80DEEA"/>
                </a:solidFill>
              </a:defRPr>
            </a:pPr>
            <a:r>
              <a:t>MMS-TTS-Telugu</a:t>
            </a:r>
          </a:p>
        </p:txBody>
      </p:sp>
      <p:sp>
        <p:nvSpPr>
          <p:cNvPr id="110" name="Shape 51"/>
          <p:cNvSpPr/>
          <p:nvPr/>
        </p:nvSpPr>
        <p:spPr>
          <a:xfrm>
            <a:off x="548640" y="3712464"/>
            <a:ext cx="1143001" cy="402338"/>
          </a:xfrm>
          <a:prstGeom prst="rect">
            <a:avLst/>
          </a:prstGeom>
          <a:solidFill>
            <a:srgbClr val="071020"/>
          </a:solidFill>
          <a:ln w="12700">
            <a:solidFill>
              <a:srgbClr val="4CAF5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" name="Text 52"/>
          <p:cNvSpPr txBox="1"/>
          <p:nvPr/>
        </p:nvSpPr>
        <p:spPr>
          <a:xfrm>
            <a:off x="548640" y="3805682"/>
            <a:ext cx="11430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4CAF50"/>
                </a:solidFill>
              </a:defRPr>
            </a:lvl1pPr>
          </a:lstStyle>
          <a:p>
            <a:pPr/>
            <a:r>
              <a:t>🔊 Speaker Output</a:t>
            </a:r>
          </a:p>
        </p:txBody>
      </p:sp>
      <p:sp>
        <p:nvSpPr>
          <p:cNvPr id="112" name="Shape 53"/>
          <p:cNvSpPr/>
          <p:nvPr/>
        </p:nvSpPr>
        <p:spPr>
          <a:xfrm>
            <a:off x="1120138" y="3547871"/>
            <a:ext cx="2" cy="164594"/>
          </a:xfrm>
          <a:prstGeom prst="line">
            <a:avLst/>
          </a:prstGeom>
          <a:ln w="27940">
            <a:solidFill>
              <a:srgbClr val="4CAF5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" name="Text 54"/>
          <p:cNvSpPr txBox="1"/>
          <p:nvPr/>
        </p:nvSpPr>
        <p:spPr>
          <a:xfrm>
            <a:off x="1028699" y="3606036"/>
            <a:ext cx="182883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4CAF50"/>
                </a:solidFill>
              </a:defRPr>
            </a:lvl1pPr>
          </a:lstStyle>
          <a:p>
            <a:pPr/>
            <a:r>
              <a:t>▼</a:t>
            </a:r>
          </a:p>
        </p:txBody>
      </p:sp>
      <p:sp>
        <p:nvSpPr>
          <p:cNvPr id="114" name="Shape 55"/>
          <p:cNvSpPr/>
          <p:nvPr/>
        </p:nvSpPr>
        <p:spPr>
          <a:xfrm>
            <a:off x="3575303" y="3712464"/>
            <a:ext cx="1325882" cy="402338"/>
          </a:xfrm>
          <a:prstGeom prst="rect">
            <a:avLst/>
          </a:prstGeom>
          <a:solidFill>
            <a:srgbClr val="071020"/>
          </a:solidFill>
          <a:ln w="12700">
            <a:solidFill>
              <a:srgbClr val="80DEEA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" name="Text 56"/>
          <p:cNvSpPr txBox="1"/>
          <p:nvPr/>
        </p:nvSpPr>
        <p:spPr>
          <a:xfrm>
            <a:off x="3575303" y="3786544"/>
            <a:ext cx="1325882" cy="254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900">
                <a:solidFill>
                  <a:srgbClr val="80DEEA"/>
                </a:solidFill>
              </a:defRPr>
            </a:pPr>
            <a:r>
              <a:t>WebSocket</a:t>
            </a:r>
          </a:p>
          <a:p>
            <a:pPr algn="ctr">
              <a:defRPr sz="900">
                <a:solidFill>
                  <a:srgbClr val="80DEEA"/>
                </a:solidFill>
              </a:defRPr>
            </a:pPr>
            <a:r>
              <a:t>Broadcast (10 Hz)</a:t>
            </a:r>
          </a:p>
        </p:txBody>
      </p:sp>
      <p:sp>
        <p:nvSpPr>
          <p:cNvPr id="116" name="Shape 57"/>
          <p:cNvSpPr/>
          <p:nvPr/>
        </p:nvSpPr>
        <p:spPr>
          <a:xfrm>
            <a:off x="4238244" y="3547871"/>
            <a:ext cx="2" cy="164594"/>
          </a:xfrm>
          <a:prstGeom prst="line">
            <a:avLst/>
          </a:prstGeom>
          <a:ln w="19050">
            <a:solidFill>
              <a:srgbClr val="80DEEA"/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" name="Text 58"/>
          <p:cNvSpPr txBox="1"/>
          <p:nvPr/>
        </p:nvSpPr>
        <p:spPr>
          <a:xfrm>
            <a:off x="8458199" y="2713988"/>
            <a:ext cx="16459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78909C"/>
                </a:solidFill>
              </a:defRPr>
            </a:lvl1pPr>
          </a:lstStyle>
          <a:p>
            <a:pPr/>
            <a:r>
              <a:t>Legend:</a:t>
            </a:r>
          </a:p>
        </p:txBody>
      </p:sp>
      <p:sp>
        <p:nvSpPr>
          <p:cNvPr id="118" name="Shape 59"/>
          <p:cNvSpPr/>
          <p:nvPr/>
        </p:nvSpPr>
        <p:spPr>
          <a:xfrm>
            <a:off x="8023859" y="3137118"/>
            <a:ext cx="411482" cy="2"/>
          </a:xfrm>
          <a:prstGeom prst="line">
            <a:avLst/>
          </a:prstGeom>
          <a:ln w="25400">
            <a:solidFill>
              <a:srgbClr val="00BCD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" name="Text 60"/>
          <p:cNvSpPr txBox="1"/>
          <p:nvPr/>
        </p:nvSpPr>
        <p:spPr>
          <a:xfrm>
            <a:off x="8553956" y="2942266"/>
            <a:ext cx="11887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78909C"/>
                </a:solidFill>
              </a:defRPr>
            </a:lvl1pPr>
          </a:lstStyle>
          <a:p>
            <a:pPr/>
            <a:r>
              <a:t>Data flow</a:t>
            </a:r>
          </a:p>
        </p:txBody>
      </p:sp>
      <p:sp>
        <p:nvSpPr>
          <p:cNvPr id="120" name="Shape 61"/>
          <p:cNvSpPr/>
          <p:nvPr/>
        </p:nvSpPr>
        <p:spPr>
          <a:xfrm>
            <a:off x="7438135" y="3499646"/>
            <a:ext cx="411482" cy="2"/>
          </a:xfrm>
          <a:prstGeom prst="line">
            <a:avLst/>
          </a:prstGeom>
          <a:ln w="19050">
            <a:solidFill>
              <a:srgbClr val="80DEEA"/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" name="Text 62"/>
          <p:cNvSpPr txBox="1"/>
          <p:nvPr/>
        </p:nvSpPr>
        <p:spPr>
          <a:xfrm>
            <a:off x="7943815" y="3436146"/>
            <a:ext cx="11887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78909C"/>
                </a:solidFill>
              </a:defRPr>
            </a:lvl1pPr>
          </a:lstStyle>
          <a:p>
            <a:pPr/>
            <a:r>
              <a:t>State update</a:t>
            </a:r>
          </a:p>
        </p:txBody>
      </p:sp>
      <p:sp>
        <p:nvSpPr>
          <p:cNvPr id="122" name="Text 63"/>
          <p:cNvSpPr txBox="1"/>
          <p:nvPr/>
        </p:nvSpPr>
        <p:spPr>
          <a:xfrm>
            <a:off x="365759" y="4810250"/>
            <a:ext cx="84124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78909C"/>
                </a:solidFill>
              </a:defRPr>
            </a:lvl1pPr>
          </a:lstStyle>
          <a:p>
            <a:pPr/>
            <a:r>
              <a:t>Figure 1 (adapted from report): Solid arrows = data flow · Dashed arrows = state updates to dashboard · Queue names shown on connectors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" name="Text 1"/>
          <p:cNvSpPr txBox="1"/>
          <p:nvPr/>
        </p:nvSpPr>
        <p:spPr>
          <a:xfrm>
            <a:off x="164592" y="45465"/>
            <a:ext cx="73152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⬛ </a:t>
            </a:r>
            <a:r>
              <a:rPr sz="900">
                <a:solidFill>
                  <a:srgbClr val="80DEEA"/>
                </a:solidFill>
              </a:rPr>
              <a:t>github.com/ManmadhaKuttum/CornerStone_COP7001</a:t>
            </a:r>
          </a:p>
        </p:txBody>
      </p:sp>
      <p:sp>
        <p:nvSpPr>
          <p:cNvPr id="126" name="Text 2"/>
          <p:cNvSpPr txBox="1"/>
          <p:nvPr/>
        </p:nvSpPr>
        <p:spPr>
          <a:xfrm>
            <a:off x="7498080" y="64514"/>
            <a:ext cx="14630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78909C"/>
                </a:solidFill>
              </a:defRPr>
            </a:lvl1pPr>
          </a:lstStyle>
          <a:p>
            <a:pPr/>
            <a:r>
              <a:t>COP7001 — IIT Delhi</a:t>
            </a:r>
          </a:p>
        </p:txBody>
      </p:sp>
      <p:sp>
        <p:nvSpPr>
          <p:cNvPr id="127" name="Text 3"/>
          <p:cNvSpPr txBox="1"/>
          <p:nvPr/>
        </p:nvSpPr>
        <p:spPr>
          <a:xfrm>
            <a:off x="365759" y="358640"/>
            <a:ext cx="8412482" cy="343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700">
                <a:solidFill>
                  <a:srgbClr val="00BCD4"/>
                </a:solidFill>
              </a:defRPr>
            </a:lvl1pPr>
          </a:lstStyle>
          <a:p>
            <a:pPr/>
            <a:r>
              <a:t>Technology Stack</a:t>
            </a:r>
          </a:p>
        </p:txBody>
      </p:sp>
      <p:sp>
        <p:nvSpPr>
          <p:cNvPr id="128" name="Shape 4"/>
          <p:cNvSpPr/>
          <p:nvPr/>
        </p:nvSpPr>
        <p:spPr>
          <a:xfrm>
            <a:off x="365759" y="795527"/>
            <a:ext cx="8412482" cy="2286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" name="Shape 5"/>
          <p:cNvSpPr/>
          <p:nvPr/>
        </p:nvSpPr>
        <p:spPr>
          <a:xfrm>
            <a:off x="365758" y="886966"/>
            <a:ext cx="4114803" cy="4023361"/>
          </a:xfrm>
          <a:prstGeom prst="rect">
            <a:avLst/>
          </a:prstGeom>
          <a:solidFill>
            <a:srgbClr val="112040"/>
          </a:solidFill>
          <a:ln w="22860">
            <a:solidFill>
              <a:srgbClr val="0277BD"/>
            </a:solidFill>
          </a:ln>
          <a:effectLst>
            <a:outerShdw sx="100000" sy="100000" kx="0" ky="0" algn="b" rotWithShape="0" blurRad="127000" dist="38100" dir="81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" name="Shape 6"/>
          <p:cNvSpPr/>
          <p:nvPr/>
        </p:nvSpPr>
        <p:spPr>
          <a:xfrm>
            <a:off x="365758" y="886966"/>
            <a:ext cx="4114803" cy="457202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" name="Text 7"/>
          <p:cNvSpPr txBox="1"/>
          <p:nvPr/>
        </p:nvSpPr>
        <p:spPr>
          <a:xfrm>
            <a:off x="365758" y="1022288"/>
            <a:ext cx="4114803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ML Models</a:t>
            </a:r>
          </a:p>
        </p:txBody>
      </p:sp>
      <p:sp>
        <p:nvSpPr>
          <p:cNvPr id="132" name="Shape 8"/>
          <p:cNvSpPr/>
          <p:nvPr/>
        </p:nvSpPr>
        <p:spPr>
          <a:xfrm>
            <a:off x="548640" y="1655064"/>
            <a:ext cx="91442" cy="9144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" name="Text 9"/>
          <p:cNvSpPr txBox="1"/>
          <p:nvPr/>
        </p:nvSpPr>
        <p:spPr>
          <a:xfrm>
            <a:off x="731520" y="1622350"/>
            <a:ext cx="361188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Faster-Whisper  (CTranslate2 backend)</a:t>
            </a:r>
          </a:p>
        </p:txBody>
      </p:sp>
      <p:sp>
        <p:nvSpPr>
          <p:cNvPr id="134" name="Shape 10"/>
          <p:cNvSpPr/>
          <p:nvPr/>
        </p:nvSpPr>
        <p:spPr>
          <a:xfrm>
            <a:off x="548640" y="2313432"/>
            <a:ext cx="91442" cy="9144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" name="Text 11"/>
          <p:cNvSpPr txBox="1"/>
          <p:nvPr/>
        </p:nvSpPr>
        <p:spPr>
          <a:xfrm>
            <a:off x="731520" y="2280718"/>
            <a:ext cx="361188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NLLB-200-distilled-600M  (int8 quantised)</a:t>
            </a:r>
          </a:p>
        </p:txBody>
      </p:sp>
      <p:sp>
        <p:nvSpPr>
          <p:cNvPr id="136" name="Shape 12"/>
          <p:cNvSpPr/>
          <p:nvPr/>
        </p:nvSpPr>
        <p:spPr>
          <a:xfrm>
            <a:off x="548640" y="2971799"/>
            <a:ext cx="91442" cy="91443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" name="Text 13"/>
          <p:cNvSpPr txBox="1"/>
          <p:nvPr/>
        </p:nvSpPr>
        <p:spPr>
          <a:xfrm>
            <a:off x="731520" y="2939087"/>
            <a:ext cx="3611880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MMS-TTS-Telugu  (VITS architecture)</a:t>
            </a:r>
          </a:p>
        </p:txBody>
      </p:sp>
      <p:sp>
        <p:nvSpPr>
          <p:cNvPr id="138" name="Shape 14"/>
          <p:cNvSpPr/>
          <p:nvPr/>
        </p:nvSpPr>
        <p:spPr>
          <a:xfrm>
            <a:off x="548640" y="3630167"/>
            <a:ext cx="91442" cy="9144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" name="Text 15"/>
          <p:cNvSpPr txBox="1"/>
          <p:nvPr/>
        </p:nvSpPr>
        <p:spPr>
          <a:xfrm>
            <a:off x="731520" y="3597454"/>
            <a:ext cx="361188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Silero-VAD  (ONNX, 16 kHz, 32 ms)</a:t>
            </a:r>
          </a:p>
        </p:txBody>
      </p:sp>
      <p:sp>
        <p:nvSpPr>
          <p:cNvPr id="140" name="Shape 16"/>
          <p:cNvSpPr/>
          <p:nvPr/>
        </p:nvSpPr>
        <p:spPr>
          <a:xfrm>
            <a:off x="4663440" y="886966"/>
            <a:ext cx="4114802" cy="4023361"/>
          </a:xfrm>
          <a:prstGeom prst="rect">
            <a:avLst/>
          </a:prstGeom>
          <a:solidFill>
            <a:srgbClr val="112040"/>
          </a:solidFill>
          <a:ln w="22860">
            <a:solidFill>
              <a:srgbClr val="1B5E20"/>
            </a:solidFill>
          </a:ln>
          <a:effectLst>
            <a:outerShdw sx="100000" sy="100000" kx="0" ky="0" algn="b" rotWithShape="0" blurRad="127000" dist="38100" dir="81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" name="Shape 17"/>
          <p:cNvSpPr/>
          <p:nvPr/>
        </p:nvSpPr>
        <p:spPr>
          <a:xfrm>
            <a:off x="4663440" y="886966"/>
            <a:ext cx="4114802" cy="45720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" name="Text 18"/>
          <p:cNvSpPr txBox="1"/>
          <p:nvPr/>
        </p:nvSpPr>
        <p:spPr>
          <a:xfrm>
            <a:off x="4663440" y="1022288"/>
            <a:ext cx="4114802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Infrastructure</a:t>
            </a:r>
          </a:p>
        </p:txBody>
      </p:sp>
      <p:sp>
        <p:nvSpPr>
          <p:cNvPr id="143" name="Shape 19"/>
          <p:cNvSpPr/>
          <p:nvPr/>
        </p:nvSpPr>
        <p:spPr>
          <a:xfrm>
            <a:off x="4846320" y="1655064"/>
            <a:ext cx="91442" cy="9144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" name="Text 20"/>
          <p:cNvSpPr txBox="1"/>
          <p:nvPr/>
        </p:nvSpPr>
        <p:spPr>
          <a:xfrm>
            <a:off x="5029200" y="1622350"/>
            <a:ext cx="361188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FastAPI + WebSockets  (10 Hz broadcast)</a:t>
            </a:r>
          </a:p>
        </p:txBody>
      </p:sp>
      <p:sp>
        <p:nvSpPr>
          <p:cNvPr id="145" name="Shape 21"/>
          <p:cNvSpPr/>
          <p:nvPr/>
        </p:nvSpPr>
        <p:spPr>
          <a:xfrm>
            <a:off x="4846320" y="2313432"/>
            <a:ext cx="91442" cy="9144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" name="Text 22"/>
          <p:cNvSpPr txBox="1"/>
          <p:nvPr/>
        </p:nvSpPr>
        <p:spPr>
          <a:xfrm>
            <a:off x="5029200" y="2280718"/>
            <a:ext cx="361188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sounddevice  (mic capture &amp; speaker output)</a:t>
            </a:r>
          </a:p>
        </p:txBody>
      </p:sp>
      <p:sp>
        <p:nvSpPr>
          <p:cNvPr id="147" name="Shape 23"/>
          <p:cNvSpPr/>
          <p:nvPr/>
        </p:nvSpPr>
        <p:spPr>
          <a:xfrm>
            <a:off x="4846320" y="2971799"/>
            <a:ext cx="91442" cy="91443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" name="Text 24"/>
          <p:cNvSpPr txBox="1"/>
          <p:nvPr/>
        </p:nvSpPr>
        <p:spPr>
          <a:xfrm>
            <a:off x="5029200" y="2939087"/>
            <a:ext cx="3611880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Python threading  (one thread per stage)</a:t>
            </a:r>
          </a:p>
        </p:txBody>
      </p:sp>
      <p:sp>
        <p:nvSpPr>
          <p:cNvPr id="149" name="Shape 25"/>
          <p:cNvSpPr/>
          <p:nvPr/>
        </p:nvSpPr>
        <p:spPr>
          <a:xfrm>
            <a:off x="4846320" y="3630167"/>
            <a:ext cx="91442" cy="9144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" name="Text 26"/>
          <p:cNvSpPr txBox="1"/>
          <p:nvPr/>
        </p:nvSpPr>
        <p:spPr>
          <a:xfrm>
            <a:off x="5029200" y="3597454"/>
            <a:ext cx="361188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HTML / CSS / JS real-time dashboard</a:t>
            </a:r>
          </a:p>
        </p:txBody>
      </p:sp>
      <p:sp>
        <p:nvSpPr>
          <p:cNvPr id="151" name="Shape 27"/>
          <p:cNvSpPr/>
          <p:nvPr/>
        </p:nvSpPr>
        <p:spPr>
          <a:xfrm>
            <a:off x="4846320" y="4288535"/>
            <a:ext cx="91442" cy="9144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2" name="Text 28"/>
          <p:cNvSpPr txBox="1"/>
          <p:nvPr/>
        </p:nvSpPr>
        <p:spPr>
          <a:xfrm>
            <a:off x="5029200" y="4255823"/>
            <a:ext cx="361188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100% Offline — zero API calls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" name="Text 1"/>
          <p:cNvSpPr txBox="1"/>
          <p:nvPr/>
        </p:nvSpPr>
        <p:spPr>
          <a:xfrm>
            <a:off x="164592" y="45465"/>
            <a:ext cx="73152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⬛ </a:t>
            </a:r>
            <a:r>
              <a:rPr sz="900">
                <a:solidFill>
                  <a:srgbClr val="80DEEA"/>
                </a:solidFill>
              </a:rPr>
              <a:t>github.com/ManmadhaKuttum/CornerStone_COP7001</a:t>
            </a:r>
          </a:p>
        </p:txBody>
      </p:sp>
      <p:sp>
        <p:nvSpPr>
          <p:cNvPr id="156" name="Text 2"/>
          <p:cNvSpPr txBox="1"/>
          <p:nvPr/>
        </p:nvSpPr>
        <p:spPr>
          <a:xfrm>
            <a:off x="7498080" y="64514"/>
            <a:ext cx="14630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78909C"/>
                </a:solidFill>
              </a:defRPr>
            </a:lvl1pPr>
          </a:lstStyle>
          <a:p>
            <a:pPr/>
            <a:r>
              <a:t>COP7001 — IIT Delhi</a:t>
            </a:r>
          </a:p>
        </p:txBody>
      </p:sp>
      <p:sp>
        <p:nvSpPr>
          <p:cNvPr id="157" name="Text 3"/>
          <p:cNvSpPr txBox="1"/>
          <p:nvPr/>
        </p:nvSpPr>
        <p:spPr>
          <a:xfrm>
            <a:off x="365759" y="358640"/>
            <a:ext cx="8412482" cy="343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700">
                <a:solidFill>
                  <a:srgbClr val="00BCD4"/>
                </a:solidFill>
              </a:defRPr>
            </a:lvl1pPr>
          </a:lstStyle>
          <a:p>
            <a:pPr/>
            <a:r>
              <a:t>Live Demo — Hindi Speech Recognition</a:t>
            </a:r>
          </a:p>
        </p:txBody>
      </p:sp>
      <p:sp>
        <p:nvSpPr>
          <p:cNvPr id="158" name="Shape 4"/>
          <p:cNvSpPr/>
          <p:nvPr/>
        </p:nvSpPr>
        <p:spPr>
          <a:xfrm>
            <a:off x="365759" y="795527"/>
            <a:ext cx="8412482" cy="2286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159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2919" y="868680"/>
            <a:ext cx="8138161" cy="3218690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127000" dist="38100" dir="8100000">
              <a:srgbClr val="000000">
                <a:alpha val="35000"/>
              </a:srgbClr>
            </a:outerShdw>
          </a:effectLst>
        </p:spPr>
      </p:pic>
      <p:sp>
        <p:nvSpPr>
          <p:cNvPr id="160" name="Shape 5"/>
          <p:cNvSpPr/>
          <p:nvPr/>
        </p:nvSpPr>
        <p:spPr>
          <a:xfrm>
            <a:off x="365759" y="4169664"/>
            <a:ext cx="8412482" cy="658370"/>
          </a:xfrm>
          <a:prstGeom prst="rect">
            <a:avLst/>
          </a:prstGeom>
          <a:solidFill>
            <a:srgbClr val="071020"/>
          </a:solidFill>
          <a:ln w="12700">
            <a:solidFill>
              <a:srgbClr val="80DEEA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" name="Text 6"/>
          <p:cNvSpPr txBox="1"/>
          <p:nvPr/>
        </p:nvSpPr>
        <p:spPr>
          <a:xfrm>
            <a:off x="457200" y="4379595"/>
            <a:ext cx="8229600" cy="2019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80DEEA"/>
                </a:solidFill>
              </a:defRPr>
            </a:lvl1pPr>
          </a:lstStyle>
          <a:p>
            <a:pPr/>
            <a:r>
              <a:t>Hindi: 'मेरा नाम जिंदड़ा'  →  Telugu: 'నా పేరు జితేంద్ర'   |   ASR Latency: 1496 ms   |   Translation: 197 ms   |   Words: 3→3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4" name="Text 1"/>
          <p:cNvSpPr txBox="1"/>
          <p:nvPr/>
        </p:nvSpPr>
        <p:spPr>
          <a:xfrm>
            <a:off x="164592" y="45465"/>
            <a:ext cx="73152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⬛ </a:t>
            </a:r>
            <a:r>
              <a:rPr sz="900">
                <a:solidFill>
                  <a:srgbClr val="80DEEA"/>
                </a:solidFill>
              </a:rPr>
              <a:t>github.com/ManmadhaKuttum/CornerStone_COP7001</a:t>
            </a:r>
          </a:p>
        </p:txBody>
      </p:sp>
      <p:sp>
        <p:nvSpPr>
          <p:cNvPr id="165" name="Text 2"/>
          <p:cNvSpPr txBox="1"/>
          <p:nvPr/>
        </p:nvSpPr>
        <p:spPr>
          <a:xfrm>
            <a:off x="7498080" y="64514"/>
            <a:ext cx="14630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78909C"/>
                </a:solidFill>
              </a:defRPr>
            </a:lvl1pPr>
          </a:lstStyle>
          <a:p>
            <a:pPr/>
            <a:r>
              <a:t>COP7001 — IIT Delhi</a:t>
            </a:r>
          </a:p>
        </p:txBody>
      </p:sp>
      <p:sp>
        <p:nvSpPr>
          <p:cNvPr id="166" name="Text 3"/>
          <p:cNvSpPr txBox="1"/>
          <p:nvPr/>
        </p:nvSpPr>
        <p:spPr>
          <a:xfrm>
            <a:off x="365759" y="358640"/>
            <a:ext cx="8412482" cy="343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700">
                <a:solidFill>
                  <a:srgbClr val="00BCD4"/>
                </a:solidFill>
              </a:defRPr>
            </a:lvl1pPr>
          </a:lstStyle>
          <a:p>
            <a:pPr/>
            <a:r>
              <a:t>Live Demo — End-to-End Translation</a:t>
            </a:r>
          </a:p>
        </p:txBody>
      </p:sp>
      <p:sp>
        <p:nvSpPr>
          <p:cNvPr id="167" name="Shape 4"/>
          <p:cNvSpPr/>
          <p:nvPr/>
        </p:nvSpPr>
        <p:spPr>
          <a:xfrm>
            <a:off x="365759" y="795527"/>
            <a:ext cx="8412482" cy="2286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16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2919" y="868680"/>
            <a:ext cx="8138161" cy="3218690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127000" dist="38100" dir="8100000">
              <a:srgbClr val="000000">
                <a:alpha val="35000"/>
              </a:srgbClr>
            </a:outerShdw>
          </a:effectLst>
        </p:spPr>
      </p:pic>
      <p:sp>
        <p:nvSpPr>
          <p:cNvPr id="169" name="Shape 5"/>
          <p:cNvSpPr/>
          <p:nvPr/>
        </p:nvSpPr>
        <p:spPr>
          <a:xfrm>
            <a:off x="365759" y="4169664"/>
            <a:ext cx="8412482" cy="658370"/>
          </a:xfrm>
          <a:prstGeom prst="rect">
            <a:avLst/>
          </a:prstGeom>
          <a:solidFill>
            <a:srgbClr val="071020"/>
          </a:solidFill>
          <a:ln w="12700">
            <a:solidFill>
              <a:srgbClr val="80DEEA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" name="Text 6"/>
          <p:cNvSpPr txBox="1"/>
          <p:nvPr/>
        </p:nvSpPr>
        <p:spPr>
          <a:xfrm>
            <a:off x="457200" y="4379595"/>
            <a:ext cx="8229600" cy="2019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80DEEA"/>
                </a:solidFill>
              </a:defRPr>
            </a:lvl1pPr>
          </a:lstStyle>
          <a:p>
            <a:pPr/>
            <a:r>
              <a:t>'मेरा नाम जिंदड़ा आप कैसे हो?'  →  'నా పేరు జితేంద్ర మీరు ఎలా ఉన్నారు?'   |   End-to-End: 2001 ms   |   RTF &lt; 1.0   |   Words: 6→6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3" name="Text 1"/>
          <p:cNvSpPr txBox="1"/>
          <p:nvPr/>
        </p:nvSpPr>
        <p:spPr>
          <a:xfrm>
            <a:off x="164592" y="45465"/>
            <a:ext cx="73152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⬛ </a:t>
            </a:r>
            <a:r>
              <a:rPr sz="900">
                <a:solidFill>
                  <a:srgbClr val="80DEEA"/>
                </a:solidFill>
              </a:rPr>
              <a:t>github.com/ManmadhaKuttum/CornerStone_COP7001</a:t>
            </a:r>
          </a:p>
        </p:txBody>
      </p:sp>
      <p:sp>
        <p:nvSpPr>
          <p:cNvPr id="174" name="Text 2"/>
          <p:cNvSpPr txBox="1"/>
          <p:nvPr/>
        </p:nvSpPr>
        <p:spPr>
          <a:xfrm>
            <a:off x="7498080" y="64514"/>
            <a:ext cx="14630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78909C"/>
                </a:solidFill>
              </a:defRPr>
            </a:lvl1pPr>
          </a:lstStyle>
          <a:p>
            <a:pPr/>
            <a:r>
              <a:t>COP7001 — IIT Delhi</a:t>
            </a:r>
          </a:p>
        </p:txBody>
      </p:sp>
      <p:sp>
        <p:nvSpPr>
          <p:cNvPr id="175" name="Text 3"/>
          <p:cNvSpPr txBox="1"/>
          <p:nvPr/>
        </p:nvSpPr>
        <p:spPr>
          <a:xfrm>
            <a:off x="365759" y="358640"/>
            <a:ext cx="8412482" cy="343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700">
                <a:solidFill>
                  <a:srgbClr val="00BCD4"/>
                </a:solidFill>
              </a:defRPr>
            </a:lvl1pPr>
          </a:lstStyle>
          <a:p>
            <a:pPr/>
            <a:r>
              <a:t>Systems Challenges &amp; Solutions</a:t>
            </a:r>
          </a:p>
        </p:txBody>
      </p:sp>
      <p:sp>
        <p:nvSpPr>
          <p:cNvPr id="176" name="Shape 4"/>
          <p:cNvSpPr/>
          <p:nvPr/>
        </p:nvSpPr>
        <p:spPr>
          <a:xfrm>
            <a:off x="365759" y="795527"/>
            <a:ext cx="8412482" cy="2286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" name="Shape 5"/>
          <p:cNvSpPr/>
          <p:nvPr/>
        </p:nvSpPr>
        <p:spPr>
          <a:xfrm>
            <a:off x="5943598" y="886966"/>
            <a:ext cx="987554" cy="713234"/>
          </a:xfrm>
          <a:prstGeom prst="rect">
            <a:avLst/>
          </a:prstGeom>
          <a:solidFill>
            <a:srgbClr val="071020"/>
          </a:solidFill>
          <a:ln w="19050">
            <a:solidFill>
              <a:srgbClr val="00BCD4"/>
            </a:solidFill>
          </a:ln>
          <a:effectLst>
            <a:outerShdw sx="100000" sy="100000" kx="0" ky="0" algn="b" rotWithShape="0" blurRad="127000" dist="38100" dir="81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8" name="Text 6"/>
          <p:cNvSpPr txBox="1"/>
          <p:nvPr/>
        </p:nvSpPr>
        <p:spPr>
          <a:xfrm>
            <a:off x="5943598" y="1032186"/>
            <a:ext cx="987554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00BCD4"/>
                </a:solidFill>
              </a:defRPr>
            </a:lvl1pPr>
          </a:lstStyle>
          <a:p>
            <a:pPr/>
            <a:r>
              <a:t>~2001 ms</a:t>
            </a:r>
          </a:p>
        </p:txBody>
      </p:sp>
      <p:sp>
        <p:nvSpPr>
          <p:cNvPr id="179" name="Text 7"/>
          <p:cNvSpPr txBox="1"/>
          <p:nvPr/>
        </p:nvSpPr>
        <p:spPr>
          <a:xfrm>
            <a:off x="5943598" y="1372107"/>
            <a:ext cx="98755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78909C"/>
                </a:solidFill>
              </a:defRPr>
            </a:lvl1pPr>
          </a:lstStyle>
          <a:p>
            <a:pPr/>
            <a:r>
              <a:t>End-to-End</a:t>
            </a:r>
          </a:p>
        </p:txBody>
      </p:sp>
      <p:sp>
        <p:nvSpPr>
          <p:cNvPr id="180" name="Shape 8"/>
          <p:cNvSpPr/>
          <p:nvPr/>
        </p:nvSpPr>
        <p:spPr>
          <a:xfrm>
            <a:off x="6995159" y="886966"/>
            <a:ext cx="987554" cy="713234"/>
          </a:xfrm>
          <a:prstGeom prst="rect">
            <a:avLst/>
          </a:prstGeom>
          <a:solidFill>
            <a:srgbClr val="071020"/>
          </a:solidFill>
          <a:ln w="19050">
            <a:solidFill>
              <a:srgbClr val="00BCD4"/>
            </a:solidFill>
          </a:ln>
          <a:effectLst>
            <a:outerShdw sx="100000" sy="100000" kx="0" ky="0" algn="b" rotWithShape="0" blurRad="127000" dist="38100" dir="81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1" name="Text 9"/>
          <p:cNvSpPr txBox="1"/>
          <p:nvPr/>
        </p:nvSpPr>
        <p:spPr>
          <a:xfrm>
            <a:off x="6995159" y="1032186"/>
            <a:ext cx="987554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00BCD4"/>
                </a:solidFill>
              </a:defRPr>
            </a:lvl1pPr>
          </a:lstStyle>
          <a:p>
            <a:pPr/>
            <a:r>
              <a:t>&lt; 1.0</a:t>
            </a:r>
          </a:p>
        </p:txBody>
      </p:sp>
      <p:sp>
        <p:nvSpPr>
          <p:cNvPr id="182" name="Text 10"/>
          <p:cNvSpPr txBox="1"/>
          <p:nvPr/>
        </p:nvSpPr>
        <p:spPr>
          <a:xfrm>
            <a:off x="6995159" y="1372107"/>
            <a:ext cx="98755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78909C"/>
                </a:solidFill>
              </a:defRPr>
            </a:lvl1pPr>
          </a:lstStyle>
          <a:p>
            <a:pPr/>
            <a:r>
              <a:t>RTF</a:t>
            </a:r>
          </a:p>
        </p:txBody>
      </p:sp>
      <p:sp>
        <p:nvSpPr>
          <p:cNvPr id="183" name="Shape 11"/>
          <p:cNvSpPr/>
          <p:nvPr/>
        </p:nvSpPr>
        <p:spPr>
          <a:xfrm>
            <a:off x="8046718" y="886966"/>
            <a:ext cx="987554" cy="713234"/>
          </a:xfrm>
          <a:prstGeom prst="rect">
            <a:avLst/>
          </a:prstGeom>
          <a:solidFill>
            <a:srgbClr val="071020"/>
          </a:solidFill>
          <a:ln w="19050">
            <a:solidFill>
              <a:srgbClr val="00BCD4"/>
            </a:solidFill>
          </a:ln>
          <a:effectLst>
            <a:outerShdw sx="100000" sy="100000" kx="0" ky="0" algn="b" rotWithShape="0" blurRad="127000" dist="38100" dir="81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4" name="Text 12"/>
          <p:cNvSpPr txBox="1"/>
          <p:nvPr/>
        </p:nvSpPr>
        <p:spPr>
          <a:xfrm>
            <a:off x="8046718" y="1032186"/>
            <a:ext cx="987554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00BCD4"/>
                </a:solidFill>
              </a:defRPr>
            </a:lvl1pPr>
          </a:lstStyle>
          <a:p>
            <a:pPr/>
            <a:r>
              <a:t>100%</a:t>
            </a:r>
          </a:p>
        </p:txBody>
      </p:sp>
      <p:sp>
        <p:nvSpPr>
          <p:cNvPr id="185" name="Text 13"/>
          <p:cNvSpPr txBox="1"/>
          <p:nvPr/>
        </p:nvSpPr>
        <p:spPr>
          <a:xfrm>
            <a:off x="8046718" y="1372107"/>
            <a:ext cx="98755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78909C"/>
                </a:solidFill>
              </a:defRPr>
            </a:lvl1pPr>
          </a:lstStyle>
          <a:p>
            <a:pPr/>
            <a:r>
              <a:t>Offline</a:t>
            </a:r>
          </a:p>
        </p:txBody>
      </p:sp>
      <p:sp>
        <p:nvSpPr>
          <p:cNvPr id="186" name="Text 14"/>
          <p:cNvSpPr txBox="1"/>
          <p:nvPr/>
        </p:nvSpPr>
        <p:spPr>
          <a:xfrm>
            <a:off x="365760" y="1006347"/>
            <a:ext cx="190195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EF9A9A"/>
                </a:solidFill>
              </a:defRPr>
            </a:lvl1pPr>
          </a:lstStyle>
          <a:p>
            <a:pPr/>
            <a:r>
              <a:t>PROBLEM</a:t>
            </a:r>
          </a:p>
        </p:txBody>
      </p:sp>
      <p:sp>
        <p:nvSpPr>
          <p:cNvPr id="187" name="Text 15"/>
          <p:cNvSpPr txBox="1"/>
          <p:nvPr/>
        </p:nvSpPr>
        <p:spPr>
          <a:xfrm>
            <a:off x="2340864" y="1006347"/>
            <a:ext cx="21031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80DEEA"/>
                </a:solidFill>
              </a:defRPr>
            </a:lvl1pPr>
          </a:lstStyle>
          <a:p>
            <a:pPr/>
            <a:r>
              <a:t>HOW WE SOLVED IT</a:t>
            </a:r>
          </a:p>
        </p:txBody>
      </p:sp>
      <p:sp>
        <p:nvSpPr>
          <p:cNvPr id="188" name="Text 16"/>
          <p:cNvSpPr txBox="1"/>
          <p:nvPr/>
        </p:nvSpPr>
        <p:spPr>
          <a:xfrm>
            <a:off x="4517135" y="1006347"/>
            <a:ext cx="13716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A5D6A7"/>
                </a:solidFill>
              </a:defRPr>
            </a:lvl1pPr>
          </a:lstStyle>
          <a:p>
            <a:pPr/>
            <a:r>
              <a:t>RESULT</a:t>
            </a:r>
          </a:p>
        </p:txBody>
      </p:sp>
      <p:sp>
        <p:nvSpPr>
          <p:cNvPr id="189" name="Shape 17"/>
          <p:cNvSpPr/>
          <p:nvPr/>
        </p:nvSpPr>
        <p:spPr>
          <a:xfrm>
            <a:off x="365760" y="1216152"/>
            <a:ext cx="1901951" cy="804674"/>
          </a:xfrm>
          <a:prstGeom prst="rect">
            <a:avLst/>
          </a:prstGeom>
          <a:solidFill>
            <a:srgbClr val="1A0505"/>
          </a:solidFill>
          <a:ln w="19050">
            <a:solidFill>
              <a:srgbClr val="B71C1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" name="Text 18"/>
          <p:cNvSpPr txBox="1"/>
          <p:nvPr/>
        </p:nvSpPr>
        <p:spPr>
          <a:xfrm>
            <a:off x="438912" y="1551354"/>
            <a:ext cx="1755648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Latency: 8+ s →</a:t>
            </a:r>
          </a:p>
        </p:txBody>
      </p:sp>
      <p:sp>
        <p:nvSpPr>
          <p:cNvPr id="191" name="Text 19"/>
          <p:cNvSpPr txBox="1"/>
          <p:nvPr/>
        </p:nvSpPr>
        <p:spPr>
          <a:xfrm>
            <a:off x="2286000" y="1523807"/>
            <a:ext cx="109728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>
                <a:solidFill>
                  <a:srgbClr val="00BCD4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92" name="Shape 20"/>
          <p:cNvSpPr/>
          <p:nvPr/>
        </p:nvSpPr>
        <p:spPr>
          <a:xfrm>
            <a:off x="2340864" y="1216152"/>
            <a:ext cx="2103122" cy="804674"/>
          </a:xfrm>
          <a:prstGeom prst="rect">
            <a:avLst/>
          </a:prstGeom>
          <a:solidFill>
            <a:srgbClr val="091A30"/>
          </a:solidFill>
          <a:ln w="15240">
            <a:solidFill>
              <a:srgbClr val="00BCD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3" name="Text 21"/>
          <p:cNvSpPr txBox="1"/>
          <p:nvPr/>
        </p:nvSpPr>
        <p:spPr>
          <a:xfrm>
            <a:off x="2432304" y="1468804"/>
            <a:ext cx="1920241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100">
                <a:solidFill>
                  <a:srgbClr val="80DEEA"/>
                </a:solidFill>
              </a:defRPr>
            </a:pPr>
            <a:r>
              <a:t>Pipeline parallelism</a:t>
            </a:r>
          </a:p>
          <a:p>
            <a:pPr>
              <a:defRPr sz="1100">
                <a:solidFill>
                  <a:srgbClr val="80DEEA"/>
                </a:solidFill>
              </a:defRPr>
            </a:pPr>
            <a:r>
              <a:t>+ bounded queues</a:t>
            </a:r>
          </a:p>
        </p:txBody>
      </p:sp>
      <p:sp>
        <p:nvSpPr>
          <p:cNvPr id="194" name="Text 22"/>
          <p:cNvSpPr txBox="1"/>
          <p:nvPr/>
        </p:nvSpPr>
        <p:spPr>
          <a:xfrm>
            <a:off x="4462271" y="1523807"/>
            <a:ext cx="10973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>
                <a:solidFill>
                  <a:srgbClr val="4CAF50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95" name="Shape 23"/>
          <p:cNvSpPr/>
          <p:nvPr/>
        </p:nvSpPr>
        <p:spPr>
          <a:xfrm>
            <a:off x="4517135" y="1216152"/>
            <a:ext cx="1371602" cy="804674"/>
          </a:xfrm>
          <a:prstGeom prst="rect">
            <a:avLst/>
          </a:prstGeom>
          <a:solidFill>
            <a:srgbClr val="051A05"/>
          </a:solidFill>
          <a:ln w="19050">
            <a:solidFill>
              <a:srgbClr val="2E7D32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" name="Text 24"/>
          <p:cNvSpPr txBox="1"/>
          <p:nvPr/>
        </p:nvSpPr>
        <p:spPr>
          <a:xfrm>
            <a:off x="4572000" y="1533209"/>
            <a:ext cx="1243584" cy="170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81C784"/>
                </a:solidFill>
              </a:defRPr>
            </a:lvl1pPr>
          </a:lstStyle>
          <a:p>
            <a:pPr/>
            <a:r>
              <a:t>✓ 2001 ms</a:t>
            </a:r>
          </a:p>
        </p:txBody>
      </p:sp>
      <p:sp>
        <p:nvSpPr>
          <p:cNvPr id="197" name="Shape 25"/>
          <p:cNvSpPr/>
          <p:nvPr/>
        </p:nvSpPr>
        <p:spPr>
          <a:xfrm>
            <a:off x="365760" y="2112264"/>
            <a:ext cx="1901951" cy="804674"/>
          </a:xfrm>
          <a:prstGeom prst="rect">
            <a:avLst/>
          </a:prstGeom>
          <a:solidFill>
            <a:srgbClr val="1A0505"/>
          </a:solidFill>
          <a:ln w="19050">
            <a:solidFill>
              <a:srgbClr val="E651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8" name="Text 26"/>
          <p:cNvSpPr txBox="1"/>
          <p:nvPr/>
        </p:nvSpPr>
        <p:spPr>
          <a:xfrm>
            <a:off x="438912" y="2447465"/>
            <a:ext cx="1755648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Hindi hallucinations</a:t>
            </a:r>
          </a:p>
        </p:txBody>
      </p:sp>
      <p:sp>
        <p:nvSpPr>
          <p:cNvPr id="199" name="Text 27"/>
          <p:cNvSpPr txBox="1"/>
          <p:nvPr/>
        </p:nvSpPr>
        <p:spPr>
          <a:xfrm>
            <a:off x="2286000" y="2419919"/>
            <a:ext cx="109728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>
                <a:solidFill>
                  <a:srgbClr val="00BCD4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00" name="Shape 28"/>
          <p:cNvSpPr/>
          <p:nvPr/>
        </p:nvSpPr>
        <p:spPr>
          <a:xfrm>
            <a:off x="2340864" y="2112264"/>
            <a:ext cx="2103122" cy="804674"/>
          </a:xfrm>
          <a:prstGeom prst="rect">
            <a:avLst/>
          </a:prstGeom>
          <a:solidFill>
            <a:srgbClr val="091A30"/>
          </a:solidFill>
          <a:ln w="15240">
            <a:solidFill>
              <a:srgbClr val="00BCD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1" name="Text 29"/>
          <p:cNvSpPr txBox="1"/>
          <p:nvPr/>
        </p:nvSpPr>
        <p:spPr>
          <a:xfrm>
            <a:off x="2432304" y="2364915"/>
            <a:ext cx="1920241" cy="299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100">
                <a:solidFill>
                  <a:srgbClr val="80DEEA"/>
                </a:solidFill>
              </a:defRPr>
            </a:pPr>
            <a:r>
              <a:t>initial_prompt + Devanagari</a:t>
            </a:r>
          </a:p>
          <a:p>
            <a:pPr>
              <a:defRPr sz="1100">
                <a:solidFill>
                  <a:srgbClr val="80DEEA"/>
                </a:solidFill>
              </a:defRPr>
            </a:pPr>
            <a:r>
              <a:t>character filter (≥25%)</a:t>
            </a:r>
          </a:p>
        </p:txBody>
      </p:sp>
      <p:sp>
        <p:nvSpPr>
          <p:cNvPr id="202" name="Text 30"/>
          <p:cNvSpPr txBox="1"/>
          <p:nvPr/>
        </p:nvSpPr>
        <p:spPr>
          <a:xfrm>
            <a:off x="4462271" y="2419919"/>
            <a:ext cx="10973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>
                <a:solidFill>
                  <a:srgbClr val="4CAF50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03" name="Shape 31"/>
          <p:cNvSpPr/>
          <p:nvPr/>
        </p:nvSpPr>
        <p:spPr>
          <a:xfrm>
            <a:off x="4517135" y="2112264"/>
            <a:ext cx="1371602" cy="804674"/>
          </a:xfrm>
          <a:prstGeom prst="rect">
            <a:avLst/>
          </a:prstGeom>
          <a:solidFill>
            <a:srgbClr val="051A05"/>
          </a:solidFill>
          <a:ln w="19050">
            <a:solidFill>
              <a:srgbClr val="2E7D32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4" name="Text 32"/>
          <p:cNvSpPr txBox="1"/>
          <p:nvPr/>
        </p:nvSpPr>
        <p:spPr>
          <a:xfrm>
            <a:off x="4572000" y="2429321"/>
            <a:ext cx="1243584" cy="170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81C784"/>
                </a:solidFill>
              </a:defRPr>
            </a:lvl1pPr>
          </a:lstStyle>
          <a:p>
            <a:pPr/>
            <a:r>
              <a:t>✓ Clean output</a:t>
            </a:r>
          </a:p>
        </p:txBody>
      </p:sp>
      <p:sp>
        <p:nvSpPr>
          <p:cNvPr id="205" name="Shape 33"/>
          <p:cNvSpPr/>
          <p:nvPr/>
        </p:nvSpPr>
        <p:spPr>
          <a:xfrm>
            <a:off x="365760" y="3008376"/>
            <a:ext cx="1901951" cy="804674"/>
          </a:xfrm>
          <a:prstGeom prst="rect">
            <a:avLst/>
          </a:prstGeom>
          <a:solidFill>
            <a:srgbClr val="1A0505"/>
          </a:solidFill>
          <a:ln w="19050">
            <a:solidFill>
              <a:srgbClr val="B71C1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6" name="Text 34"/>
          <p:cNvSpPr txBox="1"/>
          <p:nvPr/>
        </p:nvSpPr>
        <p:spPr>
          <a:xfrm>
            <a:off x="438912" y="3343578"/>
            <a:ext cx="1755648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Translation: 1.2 s →</a:t>
            </a:r>
          </a:p>
        </p:txBody>
      </p:sp>
      <p:sp>
        <p:nvSpPr>
          <p:cNvPr id="207" name="Text 35"/>
          <p:cNvSpPr txBox="1"/>
          <p:nvPr/>
        </p:nvSpPr>
        <p:spPr>
          <a:xfrm>
            <a:off x="2286000" y="3316032"/>
            <a:ext cx="109728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>
                <a:solidFill>
                  <a:srgbClr val="00BCD4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08" name="Shape 36"/>
          <p:cNvSpPr/>
          <p:nvPr/>
        </p:nvSpPr>
        <p:spPr>
          <a:xfrm>
            <a:off x="2340864" y="3008376"/>
            <a:ext cx="2103122" cy="804674"/>
          </a:xfrm>
          <a:prstGeom prst="rect">
            <a:avLst/>
          </a:prstGeom>
          <a:solidFill>
            <a:srgbClr val="091A30"/>
          </a:solidFill>
          <a:ln w="15240">
            <a:solidFill>
              <a:srgbClr val="00BCD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9" name="Text 37"/>
          <p:cNvSpPr txBox="1"/>
          <p:nvPr/>
        </p:nvSpPr>
        <p:spPr>
          <a:xfrm>
            <a:off x="2432304" y="3261028"/>
            <a:ext cx="1920241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100">
                <a:solidFill>
                  <a:srgbClr val="80DEEA"/>
                </a:solidFill>
              </a:defRPr>
            </a:pPr>
            <a:r>
              <a:t>CTranslate2 int8</a:t>
            </a:r>
          </a:p>
          <a:p>
            <a:pPr>
              <a:defRPr sz="1100">
                <a:solidFill>
                  <a:srgbClr val="80DEEA"/>
                </a:solidFill>
              </a:defRPr>
            </a:pPr>
            <a:r>
              <a:t>+ all CPU cores (9×)</a:t>
            </a:r>
          </a:p>
        </p:txBody>
      </p:sp>
      <p:sp>
        <p:nvSpPr>
          <p:cNvPr id="210" name="Text 38"/>
          <p:cNvSpPr txBox="1"/>
          <p:nvPr/>
        </p:nvSpPr>
        <p:spPr>
          <a:xfrm>
            <a:off x="4462271" y="3316032"/>
            <a:ext cx="10973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>
                <a:solidFill>
                  <a:srgbClr val="4CAF50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11" name="Shape 39"/>
          <p:cNvSpPr/>
          <p:nvPr/>
        </p:nvSpPr>
        <p:spPr>
          <a:xfrm>
            <a:off x="4517135" y="3008376"/>
            <a:ext cx="1371602" cy="804674"/>
          </a:xfrm>
          <a:prstGeom prst="rect">
            <a:avLst/>
          </a:prstGeom>
          <a:solidFill>
            <a:srgbClr val="051A05"/>
          </a:solidFill>
          <a:ln w="19050">
            <a:solidFill>
              <a:srgbClr val="2E7D32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2" name="Text 40"/>
          <p:cNvSpPr txBox="1"/>
          <p:nvPr/>
        </p:nvSpPr>
        <p:spPr>
          <a:xfrm>
            <a:off x="4572000" y="3325433"/>
            <a:ext cx="1243584" cy="170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81C784"/>
                </a:solidFill>
              </a:defRPr>
            </a:lvl1pPr>
          </a:lstStyle>
          <a:p>
            <a:pPr/>
            <a:r>
              <a:t>✓ 135–197 ms</a:t>
            </a:r>
          </a:p>
        </p:txBody>
      </p:sp>
      <p:sp>
        <p:nvSpPr>
          <p:cNvPr id="213" name="Shape 41"/>
          <p:cNvSpPr/>
          <p:nvPr/>
        </p:nvSpPr>
        <p:spPr>
          <a:xfrm>
            <a:off x="365760" y="3904488"/>
            <a:ext cx="1901951" cy="804674"/>
          </a:xfrm>
          <a:prstGeom prst="rect">
            <a:avLst/>
          </a:prstGeom>
          <a:solidFill>
            <a:srgbClr val="1A0505"/>
          </a:solidFill>
          <a:ln w="19050">
            <a:solidFill>
              <a:srgbClr val="E651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4" name="Text 42"/>
          <p:cNvSpPr txBox="1"/>
          <p:nvPr/>
        </p:nvSpPr>
        <p:spPr>
          <a:xfrm>
            <a:off x="438912" y="4239690"/>
            <a:ext cx="1755648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TTS cold-start 2 s spike</a:t>
            </a:r>
          </a:p>
        </p:txBody>
      </p:sp>
      <p:sp>
        <p:nvSpPr>
          <p:cNvPr id="215" name="Text 43"/>
          <p:cNvSpPr txBox="1"/>
          <p:nvPr/>
        </p:nvSpPr>
        <p:spPr>
          <a:xfrm>
            <a:off x="2286000" y="4212144"/>
            <a:ext cx="109728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>
                <a:solidFill>
                  <a:srgbClr val="00BCD4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16" name="Shape 44"/>
          <p:cNvSpPr/>
          <p:nvPr/>
        </p:nvSpPr>
        <p:spPr>
          <a:xfrm>
            <a:off x="2340864" y="3904488"/>
            <a:ext cx="2103122" cy="804674"/>
          </a:xfrm>
          <a:prstGeom prst="rect">
            <a:avLst/>
          </a:prstGeom>
          <a:solidFill>
            <a:srgbClr val="091A30"/>
          </a:solidFill>
          <a:ln w="15240">
            <a:solidFill>
              <a:srgbClr val="00BCD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7" name="Text 45"/>
          <p:cNvSpPr txBox="1"/>
          <p:nvPr/>
        </p:nvSpPr>
        <p:spPr>
          <a:xfrm>
            <a:off x="2432304" y="4157140"/>
            <a:ext cx="1920241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100">
                <a:solidFill>
                  <a:srgbClr val="80DEEA"/>
                </a:solidFill>
              </a:defRPr>
            </a:pPr>
            <a:r>
              <a:t>Pre-warm VITS model</a:t>
            </a:r>
          </a:p>
          <a:p>
            <a:pPr>
              <a:defRPr sz="1100">
                <a:solidFill>
                  <a:srgbClr val="80DEEA"/>
                </a:solidFill>
              </a:defRPr>
            </a:pPr>
            <a:r>
              <a:t>at server startup</a:t>
            </a:r>
          </a:p>
        </p:txBody>
      </p:sp>
      <p:sp>
        <p:nvSpPr>
          <p:cNvPr id="218" name="Text 46"/>
          <p:cNvSpPr txBox="1"/>
          <p:nvPr/>
        </p:nvSpPr>
        <p:spPr>
          <a:xfrm>
            <a:off x="4462271" y="4212144"/>
            <a:ext cx="10973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>
                <a:solidFill>
                  <a:srgbClr val="4CAF50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19" name="Shape 47"/>
          <p:cNvSpPr/>
          <p:nvPr/>
        </p:nvSpPr>
        <p:spPr>
          <a:xfrm>
            <a:off x="4517135" y="3904488"/>
            <a:ext cx="1371602" cy="804674"/>
          </a:xfrm>
          <a:prstGeom prst="rect">
            <a:avLst/>
          </a:prstGeom>
          <a:solidFill>
            <a:srgbClr val="051A05"/>
          </a:solidFill>
          <a:ln w="19050">
            <a:solidFill>
              <a:srgbClr val="2E7D32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0" name="Text 48"/>
          <p:cNvSpPr txBox="1"/>
          <p:nvPr/>
        </p:nvSpPr>
        <p:spPr>
          <a:xfrm>
            <a:off x="4572000" y="4221545"/>
            <a:ext cx="1243584" cy="170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81C784"/>
                </a:solidFill>
              </a:defRPr>
            </a:lvl1pPr>
          </a:lstStyle>
          <a:p>
            <a:pPr/>
            <a:r>
              <a:t>✓ No spike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3" name="Text 1"/>
          <p:cNvSpPr txBox="1"/>
          <p:nvPr/>
        </p:nvSpPr>
        <p:spPr>
          <a:xfrm>
            <a:off x="164592" y="45465"/>
            <a:ext cx="73152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⬛ </a:t>
            </a:r>
            <a:r>
              <a:rPr sz="900">
                <a:solidFill>
                  <a:srgbClr val="80DEEA"/>
                </a:solidFill>
              </a:rPr>
              <a:t>github.com/ManmadhaKuttum/CornerStone_COP7001</a:t>
            </a:r>
          </a:p>
        </p:txBody>
      </p:sp>
      <p:sp>
        <p:nvSpPr>
          <p:cNvPr id="224" name="Text 2"/>
          <p:cNvSpPr txBox="1"/>
          <p:nvPr/>
        </p:nvSpPr>
        <p:spPr>
          <a:xfrm>
            <a:off x="7498080" y="64514"/>
            <a:ext cx="14630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78909C"/>
                </a:solidFill>
              </a:defRPr>
            </a:lvl1pPr>
          </a:lstStyle>
          <a:p>
            <a:pPr/>
            <a:r>
              <a:t>COP7001 — IIT Delhi</a:t>
            </a:r>
          </a:p>
        </p:txBody>
      </p:sp>
      <p:sp>
        <p:nvSpPr>
          <p:cNvPr id="225" name="Text 3"/>
          <p:cNvSpPr txBox="1"/>
          <p:nvPr/>
        </p:nvSpPr>
        <p:spPr>
          <a:xfrm>
            <a:off x="365759" y="358640"/>
            <a:ext cx="8412482" cy="343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700">
                <a:solidFill>
                  <a:srgbClr val="00BCD4"/>
                </a:solidFill>
              </a:defRPr>
            </a:lvl1pPr>
          </a:lstStyle>
          <a:p>
            <a:pPr/>
            <a:r>
              <a:t>AI-Assisted Development</a:t>
            </a:r>
          </a:p>
        </p:txBody>
      </p:sp>
      <p:sp>
        <p:nvSpPr>
          <p:cNvPr id="226" name="Shape 4"/>
          <p:cNvSpPr/>
          <p:nvPr/>
        </p:nvSpPr>
        <p:spPr>
          <a:xfrm>
            <a:off x="365759" y="795527"/>
            <a:ext cx="8412482" cy="2286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7" name="Text 5"/>
          <p:cNvSpPr txBox="1"/>
          <p:nvPr/>
        </p:nvSpPr>
        <p:spPr>
          <a:xfrm>
            <a:off x="365759" y="883841"/>
            <a:ext cx="8412482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80DEEA"/>
                </a:solidFill>
              </a:defRPr>
            </a:lvl1pPr>
          </a:lstStyle>
          <a:p>
            <a:pPr/>
            <a:r>
              <a:t>Tool: Claude Code (claude-sonnet-4-6) by Anthropic — used across all 4 project phases</a:t>
            </a:r>
          </a:p>
        </p:txBody>
      </p:sp>
      <p:sp>
        <p:nvSpPr>
          <p:cNvPr id="228" name="Shape 6"/>
          <p:cNvSpPr/>
          <p:nvPr/>
        </p:nvSpPr>
        <p:spPr>
          <a:xfrm>
            <a:off x="365758" y="1161288"/>
            <a:ext cx="4114803" cy="969265"/>
          </a:xfrm>
          <a:prstGeom prst="rect">
            <a:avLst/>
          </a:prstGeom>
          <a:solidFill>
            <a:srgbClr val="112040"/>
          </a:solidFill>
          <a:ln w="12700">
            <a:solidFill>
              <a:srgbClr val="00BCD4"/>
            </a:solidFill>
          </a:ln>
          <a:effectLst>
            <a:outerShdw sx="100000" sy="100000" kx="0" ky="0" algn="b" rotWithShape="0" blurRad="127000" dist="38100" dir="81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9" name="Shape 7"/>
          <p:cNvSpPr/>
          <p:nvPr/>
        </p:nvSpPr>
        <p:spPr>
          <a:xfrm>
            <a:off x="365758" y="1161288"/>
            <a:ext cx="1371603" cy="969265"/>
          </a:xfrm>
          <a:prstGeom prst="rect">
            <a:avLst/>
          </a:prstGeom>
          <a:solidFill>
            <a:srgbClr val="071020"/>
          </a:solidFill>
          <a:ln w="12700">
            <a:solidFill>
              <a:srgbClr val="00BCD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0" name="Text 8"/>
          <p:cNvSpPr txBox="1"/>
          <p:nvPr/>
        </p:nvSpPr>
        <p:spPr>
          <a:xfrm>
            <a:off x="411479" y="1577384"/>
            <a:ext cx="128016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00BCD4"/>
                </a:solidFill>
              </a:defRPr>
            </a:lvl1pPr>
          </a:lstStyle>
          <a:p>
            <a:pPr/>
            <a:r>
              <a:t>Model Selection</a:t>
            </a:r>
          </a:p>
        </p:txBody>
      </p:sp>
      <p:sp>
        <p:nvSpPr>
          <p:cNvPr id="231" name="Text 9"/>
          <p:cNvSpPr txBox="1"/>
          <p:nvPr/>
        </p:nvSpPr>
        <p:spPr>
          <a:xfrm>
            <a:off x="1828800" y="1329734"/>
            <a:ext cx="2578608" cy="6323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Compared Whisper sizes; guided NLLB-200 over mBART; chose hin_Deva→tel_Telu tokens; recommended ONNX Silero VAD for cross-platform</a:t>
            </a:r>
          </a:p>
        </p:txBody>
      </p:sp>
      <p:sp>
        <p:nvSpPr>
          <p:cNvPr id="232" name="Shape 10"/>
          <p:cNvSpPr/>
          <p:nvPr/>
        </p:nvSpPr>
        <p:spPr>
          <a:xfrm>
            <a:off x="4681728" y="1161288"/>
            <a:ext cx="4114802" cy="969265"/>
          </a:xfrm>
          <a:prstGeom prst="rect">
            <a:avLst/>
          </a:prstGeom>
          <a:solidFill>
            <a:srgbClr val="112040"/>
          </a:solidFill>
          <a:ln w="12700">
            <a:solidFill>
              <a:srgbClr val="00BCD4"/>
            </a:solidFill>
          </a:ln>
          <a:effectLst>
            <a:outerShdw sx="100000" sy="100000" kx="0" ky="0" algn="b" rotWithShape="0" blurRad="127000" dist="38100" dir="81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3" name="Shape 11"/>
          <p:cNvSpPr/>
          <p:nvPr/>
        </p:nvSpPr>
        <p:spPr>
          <a:xfrm>
            <a:off x="4681728" y="1161288"/>
            <a:ext cx="1371602" cy="969265"/>
          </a:xfrm>
          <a:prstGeom prst="rect">
            <a:avLst/>
          </a:prstGeom>
          <a:solidFill>
            <a:srgbClr val="071020"/>
          </a:solidFill>
          <a:ln w="12700">
            <a:solidFill>
              <a:srgbClr val="00BCD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4" name="Text 12"/>
          <p:cNvSpPr txBox="1"/>
          <p:nvPr/>
        </p:nvSpPr>
        <p:spPr>
          <a:xfrm>
            <a:off x="4727447" y="1577384"/>
            <a:ext cx="128016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00BCD4"/>
                </a:solidFill>
              </a:defRPr>
            </a:lvl1pPr>
          </a:lstStyle>
          <a:p>
            <a:pPr/>
            <a:r>
              <a:t>Architecture</a:t>
            </a:r>
          </a:p>
        </p:txBody>
      </p:sp>
      <p:sp>
        <p:nvSpPr>
          <p:cNvPr id="235" name="Text 13"/>
          <p:cNvSpPr txBox="1"/>
          <p:nvPr/>
        </p:nvSpPr>
        <p:spPr>
          <a:xfrm>
            <a:off x="6144768" y="1412284"/>
            <a:ext cx="2578608" cy="467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Designed bounded-queue pipeline; suggested thread-per-stage model; recommended 10 Hz WebSocket broadcast rate</a:t>
            </a:r>
          </a:p>
        </p:txBody>
      </p:sp>
      <p:sp>
        <p:nvSpPr>
          <p:cNvPr id="236" name="Shape 14"/>
          <p:cNvSpPr/>
          <p:nvPr/>
        </p:nvSpPr>
        <p:spPr>
          <a:xfrm>
            <a:off x="365758" y="2240278"/>
            <a:ext cx="4114803" cy="969265"/>
          </a:xfrm>
          <a:prstGeom prst="rect">
            <a:avLst/>
          </a:prstGeom>
          <a:solidFill>
            <a:srgbClr val="112040"/>
          </a:solidFill>
          <a:ln w="12700">
            <a:solidFill>
              <a:srgbClr val="00BCD4"/>
            </a:solidFill>
          </a:ln>
          <a:effectLst>
            <a:outerShdw sx="100000" sy="100000" kx="0" ky="0" algn="b" rotWithShape="0" blurRad="127000" dist="38100" dir="81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7" name="Shape 15"/>
          <p:cNvSpPr/>
          <p:nvPr/>
        </p:nvSpPr>
        <p:spPr>
          <a:xfrm>
            <a:off x="365758" y="2240278"/>
            <a:ext cx="1371603" cy="969265"/>
          </a:xfrm>
          <a:prstGeom prst="rect">
            <a:avLst/>
          </a:prstGeom>
          <a:solidFill>
            <a:srgbClr val="071020"/>
          </a:solidFill>
          <a:ln w="12700">
            <a:solidFill>
              <a:srgbClr val="00BCD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8" name="Text 16"/>
          <p:cNvSpPr txBox="1"/>
          <p:nvPr/>
        </p:nvSpPr>
        <p:spPr>
          <a:xfrm>
            <a:off x="411479" y="2656376"/>
            <a:ext cx="128016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00BCD4"/>
                </a:solidFill>
              </a:defRPr>
            </a:lvl1pPr>
          </a:lstStyle>
          <a:p>
            <a:pPr/>
            <a:r>
              <a:t>Bug Fixes</a:t>
            </a:r>
          </a:p>
        </p:txBody>
      </p:sp>
      <p:sp>
        <p:nvSpPr>
          <p:cNvPr id="239" name="Text 17"/>
          <p:cNvSpPr txBox="1"/>
          <p:nvPr/>
        </p:nvSpPr>
        <p:spPr>
          <a:xfrm>
            <a:off x="1828800" y="2491276"/>
            <a:ext cx="2578608" cy="467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Fixed 7 bugs: CTranslate2 __file__ path, MPS device crash, audio callback race condition, segmenter deadlock, TTS cold-start spike</a:t>
            </a:r>
          </a:p>
        </p:txBody>
      </p:sp>
      <p:sp>
        <p:nvSpPr>
          <p:cNvPr id="240" name="Shape 18"/>
          <p:cNvSpPr/>
          <p:nvPr/>
        </p:nvSpPr>
        <p:spPr>
          <a:xfrm>
            <a:off x="4681728" y="2240278"/>
            <a:ext cx="4114802" cy="969265"/>
          </a:xfrm>
          <a:prstGeom prst="rect">
            <a:avLst/>
          </a:prstGeom>
          <a:solidFill>
            <a:srgbClr val="112040"/>
          </a:solidFill>
          <a:ln w="12700">
            <a:solidFill>
              <a:srgbClr val="00BCD4"/>
            </a:solidFill>
          </a:ln>
          <a:effectLst>
            <a:outerShdw sx="100000" sy="100000" kx="0" ky="0" algn="b" rotWithShape="0" blurRad="127000" dist="38100" dir="81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1" name="Shape 19"/>
          <p:cNvSpPr/>
          <p:nvPr/>
        </p:nvSpPr>
        <p:spPr>
          <a:xfrm>
            <a:off x="4681728" y="2240278"/>
            <a:ext cx="1371602" cy="969265"/>
          </a:xfrm>
          <a:prstGeom prst="rect">
            <a:avLst/>
          </a:prstGeom>
          <a:solidFill>
            <a:srgbClr val="071020"/>
          </a:solidFill>
          <a:ln w="12700">
            <a:solidFill>
              <a:srgbClr val="00BCD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2" name="Text 20"/>
          <p:cNvSpPr txBox="1"/>
          <p:nvPr/>
        </p:nvSpPr>
        <p:spPr>
          <a:xfrm>
            <a:off x="4727447" y="2656376"/>
            <a:ext cx="128016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00BCD4"/>
                </a:solidFill>
              </a:defRPr>
            </a:lvl1pPr>
          </a:lstStyle>
          <a:p>
            <a:pPr/>
            <a:r>
              <a:t>Optimisation</a:t>
            </a:r>
          </a:p>
        </p:txBody>
      </p:sp>
      <p:sp>
        <p:nvSpPr>
          <p:cNvPr id="243" name="Text 21"/>
          <p:cNvSpPr txBox="1"/>
          <p:nvPr/>
        </p:nvSpPr>
        <p:spPr>
          <a:xfrm>
            <a:off x="6144768" y="2491276"/>
            <a:ext cx="2578608" cy="467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Dual-beam ASR (beam=1 partial / beam=4 final); CT2 inter_threads=os.cpu_count(); greedy beam=2 for translation</a:t>
            </a:r>
          </a:p>
        </p:txBody>
      </p:sp>
      <p:sp>
        <p:nvSpPr>
          <p:cNvPr id="244" name="Shape 22"/>
          <p:cNvSpPr/>
          <p:nvPr/>
        </p:nvSpPr>
        <p:spPr>
          <a:xfrm>
            <a:off x="365758" y="3319271"/>
            <a:ext cx="4114803" cy="969265"/>
          </a:xfrm>
          <a:prstGeom prst="rect">
            <a:avLst/>
          </a:prstGeom>
          <a:solidFill>
            <a:srgbClr val="112040"/>
          </a:solidFill>
          <a:ln w="12700">
            <a:solidFill>
              <a:srgbClr val="00BCD4"/>
            </a:solidFill>
          </a:ln>
          <a:effectLst>
            <a:outerShdw sx="100000" sy="100000" kx="0" ky="0" algn="b" rotWithShape="0" blurRad="127000" dist="38100" dir="81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5" name="Shape 23"/>
          <p:cNvSpPr/>
          <p:nvPr/>
        </p:nvSpPr>
        <p:spPr>
          <a:xfrm>
            <a:off x="365758" y="3319271"/>
            <a:ext cx="1371603" cy="969265"/>
          </a:xfrm>
          <a:prstGeom prst="rect">
            <a:avLst/>
          </a:prstGeom>
          <a:solidFill>
            <a:srgbClr val="071020"/>
          </a:solidFill>
          <a:ln w="12700">
            <a:solidFill>
              <a:srgbClr val="00BCD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6" name="Text 24"/>
          <p:cNvSpPr txBox="1"/>
          <p:nvPr/>
        </p:nvSpPr>
        <p:spPr>
          <a:xfrm>
            <a:off x="411479" y="3735368"/>
            <a:ext cx="128016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00BCD4"/>
                </a:solidFill>
              </a:defRPr>
            </a:lvl1pPr>
          </a:lstStyle>
          <a:p>
            <a:pPr/>
            <a:r>
              <a:t>Testing</a:t>
            </a:r>
          </a:p>
        </p:txBody>
      </p:sp>
      <p:sp>
        <p:nvSpPr>
          <p:cNvPr id="247" name="Text 25"/>
          <p:cNvSpPr txBox="1"/>
          <p:nvPr/>
        </p:nvSpPr>
        <p:spPr>
          <a:xfrm>
            <a:off x="1828800" y="3570268"/>
            <a:ext cx="2578608" cy="467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Generated edge cases: silence, code-switching, whispered speech, fast speech, mic disconnect, reset mid-utterance</a:t>
            </a:r>
          </a:p>
        </p:txBody>
      </p:sp>
      <p:sp>
        <p:nvSpPr>
          <p:cNvPr id="248" name="Shape 26"/>
          <p:cNvSpPr/>
          <p:nvPr/>
        </p:nvSpPr>
        <p:spPr>
          <a:xfrm>
            <a:off x="4681728" y="3319271"/>
            <a:ext cx="4114802" cy="969265"/>
          </a:xfrm>
          <a:prstGeom prst="rect">
            <a:avLst/>
          </a:prstGeom>
          <a:solidFill>
            <a:srgbClr val="112040"/>
          </a:solidFill>
          <a:ln w="12700">
            <a:solidFill>
              <a:srgbClr val="00BCD4"/>
            </a:solidFill>
          </a:ln>
          <a:effectLst>
            <a:outerShdw sx="100000" sy="100000" kx="0" ky="0" algn="b" rotWithShape="0" blurRad="127000" dist="38100" dir="81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9" name="Shape 27"/>
          <p:cNvSpPr/>
          <p:nvPr/>
        </p:nvSpPr>
        <p:spPr>
          <a:xfrm>
            <a:off x="4681728" y="3319271"/>
            <a:ext cx="1371602" cy="969265"/>
          </a:xfrm>
          <a:prstGeom prst="rect">
            <a:avLst/>
          </a:prstGeom>
          <a:solidFill>
            <a:srgbClr val="071020"/>
          </a:solidFill>
          <a:ln w="12700">
            <a:solidFill>
              <a:srgbClr val="00BCD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0" name="Text 28"/>
          <p:cNvSpPr txBox="1"/>
          <p:nvPr/>
        </p:nvSpPr>
        <p:spPr>
          <a:xfrm>
            <a:off x="4727447" y="3735368"/>
            <a:ext cx="128016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00BCD4"/>
                </a:solidFill>
              </a:defRPr>
            </a:lvl1pPr>
          </a:lstStyle>
          <a:p>
            <a:pPr/>
            <a:r>
              <a:t>Documentation</a:t>
            </a:r>
          </a:p>
        </p:txBody>
      </p:sp>
      <p:sp>
        <p:nvSpPr>
          <p:cNvPr id="251" name="Text 29"/>
          <p:cNvSpPr txBox="1"/>
          <p:nvPr/>
        </p:nvSpPr>
        <p:spPr>
          <a:xfrm>
            <a:off x="6144768" y="3570268"/>
            <a:ext cx="2578608" cy="467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Co-authored README, platform requirements files, config inline comments; session reset verification checklist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4" name="Text 1"/>
          <p:cNvSpPr txBox="1"/>
          <p:nvPr/>
        </p:nvSpPr>
        <p:spPr>
          <a:xfrm>
            <a:off x="164592" y="45465"/>
            <a:ext cx="73152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⬛ </a:t>
            </a:r>
            <a:r>
              <a:rPr sz="900">
                <a:solidFill>
                  <a:srgbClr val="80DEEA"/>
                </a:solidFill>
              </a:rPr>
              <a:t>github.com/ManmadhaKuttum/CornerStone_COP7001</a:t>
            </a:r>
          </a:p>
        </p:txBody>
      </p:sp>
      <p:sp>
        <p:nvSpPr>
          <p:cNvPr id="255" name="Text 2"/>
          <p:cNvSpPr txBox="1"/>
          <p:nvPr/>
        </p:nvSpPr>
        <p:spPr>
          <a:xfrm>
            <a:off x="7498080" y="64514"/>
            <a:ext cx="14630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78909C"/>
                </a:solidFill>
              </a:defRPr>
            </a:lvl1pPr>
          </a:lstStyle>
          <a:p>
            <a:pPr/>
            <a:r>
              <a:t>COP7001 — IIT Delhi</a:t>
            </a:r>
          </a:p>
        </p:txBody>
      </p:sp>
      <p:sp>
        <p:nvSpPr>
          <p:cNvPr id="256" name="Text 3"/>
          <p:cNvSpPr txBox="1"/>
          <p:nvPr/>
        </p:nvSpPr>
        <p:spPr>
          <a:xfrm>
            <a:off x="365759" y="358640"/>
            <a:ext cx="8412482" cy="343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700">
                <a:solidFill>
                  <a:srgbClr val="00BCD4"/>
                </a:solidFill>
              </a:defRPr>
            </a:lvl1pPr>
          </a:lstStyle>
          <a:p>
            <a:pPr/>
            <a:r>
              <a:t>Team Contributions — Equal 50 / 50 Split</a:t>
            </a:r>
          </a:p>
        </p:txBody>
      </p:sp>
      <p:sp>
        <p:nvSpPr>
          <p:cNvPr id="257" name="Shape 4"/>
          <p:cNvSpPr/>
          <p:nvPr/>
        </p:nvSpPr>
        <p:spPr>
          <a:xfrm>
            <a:off x="365759" y="795527"/>
            <a:ext cx="8412482" cy="2286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8" name="Shape 5"/>
          <p:cNvSpPr/>
          <p:nvPr/>
        </p:nvSpPr>
        <p:spPr>
          <a:xfrm>
            <a:off x="365759" y="886966"/>
            <a:ext cx="4133090" cy="3547873"/>
          </a:xfrm>
          <a:prstGeom prst="rect">
            <a:avLst/>
          </a:prstGeom>
          <a:solidFill>
            <a:srgbClr val="112040"/>
          </a:solidFill>
          <a:ln w="22860">
            <a:solidFill>
              <a:srgbClr val="0277BD"/>
            </a:solidFill>
          </a:ln>
          <a:effectLst>
            <a:outerShdw sx="100000" sy="100000" kx="0" ky="0" algn="b" rotWithShape="0" blurRad="127000" dist="38100" dir="81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9" name="Shape 6"/>
          <p:cNvSpPr/>
          <p:nvPr/>
        </p:nvSpPr>
        <p:spPr>
          <a:xfrm>
            <a:off x="365759" y="886966"/>
            <a:ext cx="4133090" cy="457202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0" name="Text 7"/>
          <p:cNvSpPr txBox="1"/>
          <p:nvPr/>
        </p:nvSpPr>
        <p:spPr>
          <a:xfrm>
            <a:off x="365759" y="1022288"/>
            <a:ext cx="4133090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Jithendra  (50%)</a:t>
            </a:r>
          </a:p>
        </p:txBody>
      </p:sp>
      <p:sp>
        <p:nvSpPr>
          <p:cNvPr id="261" name="Text 8"/>
          <p:cNvSpPr txBox="1"/>
          <p:nvPr/>
        </p:nvSpPr>
        <p:spPr>
          <a:xfrm>
            <a:off x="457198" y="1449368"/>
            <a:ext cx="395021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80DEEA"/>
                </a:solidFill>
              </a:defRPr>
            </a:lvl1pPr>
          </a:lstStyle>
          <a:p>
            <a:pPr/>
            <a:r>
              <a:t>Phases 3 &amp; 4 — Core ML Pipeline</a:t>
            </a:r>
          </a:p>
        </p:txBody>
      </p:sp>
      <p:sp>
        <p:nvSpPr>
          <p:cNvPr id="262" name="Text 9"/>
          <p:cNvSpPr txBox="1"/>
          <p:nvPr/>
        </p:nvSpPr>
        <p:spPr>
          <a:xfrm>
            <a:off x="475487" y="1748027"/>
            <a:ext cx="3875535" cy="1543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100" tIns="38100" rIns="38100" bIns="38100">
            <a:spAutoFit/>
          </a:bodyPr>
          <a:lstStyle/>
          <a:p>
            <a:pPr marL="342900" indent="-342900">
              <a:spcBef>
                <a:spcPts val="200"/>
              </a:spcBef>
              <a:buSzPct val="100000"/>
              <a:buChar char="•"/>
              <a:defRPr sz="1100">
                <a:solidFill>
                  <a:srgbClr val="FFFFFF"/>
                </a:solidFill>
              </a:defRPr>
            </a:pPr>
            <a:r>
              <a:t>ASR: Faster-Whisper, dual-path decode, Devanagari filter</a:t>
            </a:r>
          </a:p>
          <a:p>
            <a:pPr marL="342900" indent="-342900">
              <a:spcBef>
                <a:spcPts val="200"/>
              </a:spcBef>
              <a:buSzPct val="100000"/>
              <a:buChar char="•"/>
              <a:defRPr sz="1100">
                <a:solidFill>
                  <a:srgbClr val="FFFFFF"/>
                </a:solidFill>
              </a:defRPr>
            </a:pPr>
            <a:r>
              <a:t>Translation: CTranslate2 NLLB-200 int8, greedy, HF fallback</a:t>
            </a:r>
          </a:p>
          <a:p>
            <a:pPr marL="342900" indent="-342900">
              <a:spcBef>
                <a:spcPts val="200"/>
              </a:spcBef>
              <a:buSzPct val="100000"/>
              <a:buChar char="•"/>
              <a:defRPr sz="1100">
                <a:solidFill>
                  <a:srgbClr val="FFFFFF"/>
                </a:solidFill>
              </a:defRPr>
            </a:pPr>
            <a:r>
              <a:t>TTS: MMS-TTS-Telugu, sounddevice playback, pre-warming</a:t>
            </a:r>
          </a:p>
          <a:p>
            <a:pPr marL="342900" indent="-342900">
              <a:spcBef>
                <a:spcPts val="200"/>
              </a:spcBef>
              <a:buSzPct val="100000"/>
              <a:buChar char="•"/>
              <a:defRPr sz="1100">
                <a:solidFill>
                  <a:srgbClr val="FFFFFF"/>
                </a:solidFill>
              </a:defRPr>
            </a:pPr>
            <a:r>
              <a:t>VAD: Silero segmenter + energy fallback</a:t>
            </a:r>
          </a:p>
          <a:p>
            <a:pPr marL="342900" indent="-342900">
              <a:spcBef>
                <a:spcPts val="200"/>
              </a:spcBef>
              <a:buSzPct val="100000"/>
              <a:buChar char="•"/>
              <a:defRPr sz="1100">
                <a:solidFill>
                  <a:srgbClr val="FFFFFF"/>
                </a:solidFill>
              </a:defRPr>
            </a:pPr>
            <a:r>
              <a:t>Dashboard Phase 4: latency cards, RTF, partial streaming</a:t>
            </a:r>
          </a:p>
          <a:p>
            <a:pPr marL="342900" indent="-342900">
              <a:spcBef>
                <a:spcPts val="200"/>
              </a:spcBef>
              <a:buSzPct val="100000"/>
              <a:buChar char="•"/>
              <a:defRPr sz="1100">
                <a:solidFill>
                  <a:srgbClr val="FFFFFF"/>
                </a:solidFill>
              </a:defRPr>
            </a:pPr>
            <a:r>
              <a:t>Config: CT2 threads, beam sizes, silence thresholds</a:t>
            </a:r>
          </a:p>
          <a:p>
            <a:pPr marL="342900" indent="-342900">
              <a:spcBef>
                <a:spcPts val="200"/>
              </a:spcBef>
              <a:buSzPct val="100000"/>
              <a:buChar char="•"/>
              <a:defRPr sz="1100">
                <a:solidFill>
                  <a:srgbClr val="FFFFFF"/>
                </a:solidFill>
              </a:defRPr>
            </a:pPr>
            <a:r>
              <a:t>State management &amp; E2E latency tracking</a:t>
            </a:r>
          </a:p>
          <a:p>
            <a:pPr marL="342900" indent="-342900">
              <a:spcBef>
                <a:spcPts val="200"/>
              </a:spcBef>
              <a:buSzPct val="100000"/>
              <a:buChar char="•"/>
              <a:defRPr sz="1100">
                <a:solidFill>
                  <a:srgbClr val="FFFFFF"/>
                </a:solidFill>
              </a:defRPr>
            </a:pPr>
            <a:r>
              <a:t>Cross-platform requirements + README</a:t>
            </a:r>
          </a:p>
        </p:txBody>
      </p:sp>
      <p:sp>
        <p:nvSpPr>
          <p:cNvPr id="263" name="Shape 10"/>
          <p:cNvSpPr/>
          <p:nvPr/>
        </p:nvSpPr>
        <p:spPr>
          <a:xfrm>
            <a:off x="4681728" y="886966"/>
            <a:ext cx="4133090" cy="3547873"/>
          </a:xfrm>
          <a:prstGeom prst="rect">
            <a:avLst/>
          </a:prstGeom>
          <a:solidFill>
            <a:srgbClr val="112040"/>
          </a:solidFill>
          <a:ln w="22860">
            <a:solidFill>
              <a:srgbClr val="2E7D32"/>
            </a:solidFill>
          </a:ln>
          <a:effectLst>
            <a:outerShdw sx="100000" sy="100000" kx="0" ky="0" algn="b" rotWithShape="0" blurRad="127000" dist="38100" dir="81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4" name="Shape 11"/>
          <p:cNvSpPr/>
          <p:nvPr/>
        </p:nvSpPr>
        <p:spPr>
          <a:xfrm>
            <a:off x="4681728" y="886966"/>
            <a:ext cx="4133090" cy="45720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5" name="Text 12"/>
          <p:cNvSpPr txBox="1"/>
          <p:nvPr/>
        </p:nvSpPr>
        <p:spPr>
          <a:xfrm>
            <a:off x="4681728" y="1022288"/>
            <a:ext cx="4133090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Manmadha  (50%)</a:t>
            </a:r>
          </a:p>
        </p:txBody>
      </p:sp>
      <p:sp>
        <p:nvSpPr>
          <p:cNvPr id="266" name="Text 13"/>
          <p:cNvSpPr txBox="1"/>
          <p:nvPr/>
        </p:nvSpPr>
        <p:spPr>
          <a:xfrm>
            <a:off x="4773167" y="1449368"/>
            <a:ext cx="395021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80DEEA"/>
                </a:solidFill>
              </a:defRPr>
            </a:lvl1pPr>
          </a:lstStyle>
          <a:p>
            <a:pPr/>
            <a:r>
              <a:t>Phases 1 &amp; 2 — Foundation &amp; Integration</a:t>
            </a:r>
          </a:p>
        </p:txBody>
      </p:sp>
      <p:sp>
        <p:nvSpPr>
          <p:cNvPr id="267" name="Text 14"/>
          <p:cNvSpPr txBox="1"/>
          <p:nvPr/>
        </p:nvSpPr>
        <p:spPr>
          <a:xfrm>
            <a:off x="4791454" y="1748027"/>
            <a:ext cx="3875535" cy="1543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100" tIns="38100" rIns="38100" bIns="38100">
            <a:spAutoFit/>
          </a:bodyPr>
          <a:lstStyle/>
          <a:p>
            <a:pPr marL="342900" indent="-342900">
              <a:spcBef>
                <a:spcPts val="200"/>
              </a:spcBef>
              <a:buSzPct val="100000"/>
              <a:buChar char="•"/>
              <a:defRPr sz="1100">
                <a:solidFill>
                  <a:srgbClr val="FFFFFF"/>
                </a:solidFill>
              </a:defRPr>
            </a:pPr>
            <a:r>
              <a:t>Project setup: repo, .gitignore, requirements</a:t>
            </a:r>
          </a:p>
          <a:p>
            <a:pPr marL="342900" indent="-342900">
              <a:spcBef>
                <a:spcPts val="200"/>
              </a:spcBef>
              <a:buSzPct val="100000"/>
              <a:buChar char="•"/>
              <a:defRPr sz="1100">
                <a:solidFill>
                  <a:srgbClr val="FFFFFF"/>
                </a:solidFill>
              </a:defRPr>
            </a:pPr>
            <a:r>
              <a:t>Phase 1: Audio ingress pipeline &amp; dashboard v1</a:t>
            </a:r>
          </a:p>
          <a:p>
            <a:pPr marL="342900" indent="-342900">
              <a:spcBef>
                <a:spcPts val="200"/>
              </a:spcBef>
              <a:buSzPct val="100000"/>
              <a:buChar char="•"/>
              <a:defRPr sz="1100">
                <a:solidFill>
                  <a:srgbClr val="FFFFFF"/>
                </a:solidFill>
              </a:defRPr>
            </a:pPr>
            <a:r>
              <a:t>Phase 2: Hindi ASR base (Faster-Whisper)</a:t>
            </a:r>
          </a:p>
          <a:p>
            <a:pPr marL="342900" indent="-342900">
              <a:spcBef>
                <a:spcPts val="200"/>
              </a:spcBef>
              <a:buSzPct val="100000"/>
              <a:buChar char="•"/>
              <a:defRPr sz="1100">
                <a:solidFill>
                  <a:srgbClr val="FFFFFF"/>
                </a:solidFill>
              </a:defRPr>
            </a:pPr>
            <a:r>
              <a:t>Session reset: endpoint + queue drain + UI</a:t>
            </a:r>
          </a:p>
          <a:p>
            <a:pPr marL="342900" indent="-342900">
              <a:spcBef>
                <a:spcPts val="200"/>
              </a:spcBef>
              <a:buSzPct val="100000"/>
              <a:buChar char="•"/>
              <a:defRPr sz="1100">
                <a:solidFill>
                  <a:srgbClr val="FFFFFF"/>
                </a:solidFill>
              </a:defRPr>
            </a:pPr>
            <a:r>
              <a:t>Mac/MPS compatibility &amp; CPU fallback chains</a:t>
            </a:r>
          </a:p>
          <a:p>
            <a:pPr marL="342900" indent="-342900">
              <a:spcBef>
                <a:spcPts val="200"/>
              </a:spcBef>
              <a:buSzPct val="100000"/>
              <a:buChar char="•"/>
              <a:defRPr sz="1100">
                <a:solidFill>
                  <a:srgbClr val="FFFFFF"/>
                </a:solidFill>
              </a:defRPr>
            </a:pPr>
            <a:r>
              <a:t>Translation responsiveness improvements</a:t>
            </a:r>
          </a:p>
          <a:p>
            <a:pPr marL="342900" indent="-342900">
              <a:spcBef>
                <a:spcPts val="200"/>
              </a:spcBef>
              <a:buSzPct val="100000"/>
              <a:buChar char="•"/>
              <a:defRPr sz="1100">
                <a:solidFill>
                  <a:srgbClr val="FFFFFF"/>
                </a:solidFill>
              </a:defRPr>
            </a:pPr>
            <a:r>
              <a:t>Latency reporting enhancements</a:t>
            </a:r>
          </a:p>
          <a:p>
            <a:pPr marL="342900" indent="-342900">
              <a:spcBef>
                <a:spcPts val="200"/>
              </a:spcBef>
              <a:buSzPct val="100000"/>
              <a:buChar char="•"/>
              <a:defRPr sz="1100">
                <a:solidFill>
                  <a:srgbClr val="FFFFFF"/>
                </a:solidFill>
              </a:defRPr>
            </a:pPr>
            <a:r>
              <a:t>Midterm PPT, video annotation &amp; report</a:t>
            </a:r>
          </a:p>
        </p:txBody>
      </p:sp>
      <p:sp>
        <p:nvSpPr>
          <p:cNvPr id="268" name="Shape 15"/>
          <p:cNvSpPr/>
          <p:nvPr/>
        </p:nvSpPr>
        <p:spPr>
          <a:xfrm>
            <a:off x="365759" y="4507991"/>
            <a:ext cx="8412482" cy="384050"/>
          </a:xfrm>
          <a:prstGeom prst="rect">
            <a:avLst/>
          </a:prstGeom>
          <a:solidFill>
            <a:srgbClr val="071020"/>
          </a:solidFill>
          <a:ln w="12700">
            <a:solidFill>
              <a:srgbClr val="00BCD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9" name="Shape 16"/>
          <p:cNvSpPr/>
          <p:nvPr/>
        </p:nvSpPr>
        <p:spPr>
          <a:xfrm>
            <a:off x="475488" y="4572000"/>
            <a:ext cx="6144768" cy="256032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0" name="Shape 17"/>
          <p:cNvSpPr/>
          <p:nvPr/>
        </p:nvSpPr>
        <p:spPr>
          <a:xfrm>
            <a:off x="4538979" y="4571998"/>
            <a:ext cx="4120390" cy="256033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1" name="Text 18"/>
          <p:cNvSpPr txBox="1"/>
          <p:nvPr/>
        </p:nvSpPr>
        <p:spPr>
          <a:xfrm>
            <a:off x="512062" y="4636515"/>
            <a:ext cx="607162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Jithendra </a:t>
            </a:r>
          </a:p>
        </p:txBody>
      </p:sp>
      <p:sp>
        <p:nvSpPr>
          <p:cNvPr id="272" name="Text 19"/>
          <p:cNvSpPr txBox="1"/>
          <p:nvPr/>
        </p:nvSpPr>
        <p:spPr>
          <a:xfrm>
            <a:off x="6638542" y="4643313"/>
            <a:ext cx="199339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Manmadha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5" name="Text 1"/>
          <p:cNvSpPr txBox="1"/>
          <p:nvPr/>
        </p:nvSpPr>
        <p:spPr>
          <a:xfrm>
            <a:off x="164592" y="45465"/>
            <a:ext cx="73152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⬛ </a:t>
            </a:r>
            <a:r>
              <a:rPr sz="900">
                <a:solidFill>
                  <a:srgbClr val="80DEEA"/>
                </a:solidFill>
              </a:rPr>
              <a:t>github.com/ManmadhaKuttum/CornerStone_COP7001</a:t>
            </a:r>
          </a:p>
        </p:txBody>
      </p:sp>
      <p:sp>
        <p:nvSpPr>
          <p:cNvPr id="276" name="Text 2"/>
          <p:cNvSpPr txBox="1"/>
          <p:nvPr/>
        </p:nvSpPr>
        <p:spPr>
          <a:xfrm>
            <a:off x="7498080" y="64514"/>
            <a:ext cx="14630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78909C"/>
                </a:solidFill>
              </a:defRPr>
            </a:lvl1pPr>
          </a:lstStyle>
          <a:p>
            <a:pPr/>
            <a:r>
              <a:t>COP7001 — IIT Delhi</a:t>
            </a:r>
          </a:p>
        </p:txBody>
      </p:sp>
      <p:sp>
        <p:nvSpPr>
          <p:cNvPr id="277" name="Text 3"/>
          <p:cNvSpPr txBox="1"/>
          <p:nvPr/>
        </p:nvSpPr>
        <p:spPr>
          <a:xfrm>
            <a:off x="365759" y="358640"/>
            <a:ext cx="8412482" cy="343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700">
                <a:solidFill>
                  <a:srgbClr val="00BCD4"/>
                </a:solidFill>
              </a:defRPr>
            </a:lvl1pPr>
          </a:lstStyle>
          <a:p>
            <a:pPr/>
            <a:r>
              <a:t>Conclusion &amp; Future Work</a:t>
            </a:r>
          </a:p>
        </p:txBody>
      </p:sp>
      <p:sp>
        <p:nvSpPr>
          <p:cNvPr id="278" name="Shape 4"/>
          <p:cNvSpPr/>
          <p:nvPr/>
        </p:nvSpPr>
        <p:spPr>
          <a:xfrm>
            <a:off x="365759" y="795527"/>
            <a:ext cx="8412482" cy="2286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9" name="Shape 5"/>
          <p:cNvSpPr/>
          <p:nvPr/>
        </p:nvSpPr>
        <p:spPr>
          <a:xfrm>
            <a:off x="365759" y="886966"/>
            <a:ext cx="4133090" cy="4005073"/>
          </a:xfrm>
          <a:prstGeom prst="rect">
            <a:avLst/>
          </a:prstGeom>
          <a:solidFill>
            <a:srgbClr val="112040"/>
          </a:solidFill>
          <a:ln w="22860">
            <a:solidFill>
              <a:srgbClr val="1B5E20"/>
            </a:solidFill>
          </a:ln>
          <a:effectLst>
            <a:outerShdw sx="100000" sy="100000" kx="0" ky="0" algn="b" rotWithShape="0" blurRad="127000" dist="38100" dir="81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0" name="Shape 6"/>
          <p:cNvSpPr/>
          <p:nvPr/>
        </p:nvSpPr>
        <p:spPr>
          <a:xfrm>
            <a:off x="365759" y="886966"/>
            <a:ext cx="4133090" cy="45720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1" name="Text 7"/>
          <p:cNvSpPr txBox="1"/>
          <p:nvPr/>
        </p:nvSpPr>
        <p:spPr>
          <a:xfrm>
            <a:off x="365759" y="1004145"/>
            <a:ext cx="4133090" cy="2228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✓  What We Achieved</a:t>
            </a:r>
          </a:p>
        </p:txBody>
      </p:sp>
      <p:sp>
        <p:nvSpPr>
          <p:cNvPr id="282" name="Text 8"/>
          <p:cNvSpPr txBox="1"/>
          <p:nvPr/>
        </p:nvSpPr>
        <p:spPr>
          <a:xfrm>
            <a:off x="475487" y="1464562"/>
            <a:ext cx="3875535" cy="15426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100" tIns="38100" rIns="38100" bIns="38100">
            <a:spAutoFit/>
          </a:bodyPr>
          <a:lstStyle/>
          <a:p>
            <a:pPr marL="342900" indent="-342900">
              <a:spcBef>
                <a:spcPts val="500"/>
              </a:spcBef>
              <a:buSzPct val="100000"/>
              <a:buChar char="•"/>
              <a:defRPr sz="1200">
                <a:solidFill>
                  <a:srgbClr val="FFFFFF"/>
                </a:solidFill>
              </a:defRPr>
            </a:pPr>
            <a:r>
              <a:t>End-to-end latency ~2001 ms (target &lt;3 s ✓)</a:t>
            </a:r>
          </a:p>
          <a:p>
            <a:pPr marL="342900" indent="-342900">
              <a:spcBef>
                <a:spcPts val="500"/>
              </a:spcBef>
              <a:buSzPct val="100000"/>
              <a:buChar char="•"/>
              <a:defRPr sz="1200">
                <a:solidFill>
                  <a:srgbClr val="FFFFFF"/>
                </a:solidFill>
              </a:defRPr>
            </a:pPr>
            <a:r>
              <a:t>100% offline — no internet, no cloud</a:t>
            </a:r>
          </a:p>
          <a:p>
            <a:pPr marL="342900" indent="-342900">
              <a:spcBef>
                <a:spcPts val="500"/>
              </a:spcBef>
              <a:buSzPct val="100000"/>
              <a:buChar char="•"/>
              <a:defRPr sz="1200">
                <a:solidFill>
                  <a:srgbClr val="FFFFFF"/>
                </a:solidFill>
              </a:defRPr>
            </a:pPr>
            <a:r>
              <a:t>Real-time dashboard at 10 Hz with live metrics</a:t>
            </a:r>
          </a:p>
          <a:p>
            <a:pPr marL="342900" indent="-342900">
              <a:spcBef>
                <a:spcPts val="500"/>
              </a:spcBef>
              <a:buSzPct val="100000"/>
              <a:buChar char="•"/>
              <a:defRPr sz="1200">
                <a:solidFill>
                  <a:srgbClr val="FFFFFF"/>
                </a:solidFill>
              </a:defRPr>
            </a:pPr>
            <a:r>
              <a:t>Runs on CPU, Apple Silicon MPS, NVIDIA CUDA</a:t>
            </a:r>
          </a:p>
          <a:p>
            <a:pPr marL="342900" indent="-342900">
              <a:spcBef>
                <a:spcPts val="500"/>
              </a:spcBef>
              <a:buSzPct val="100000"/>
              <a:buChar char="•"/>
              <a:defRPr sz="1200">
                <a:solidFill>
                  <a:srgbClr val="FFFFFF"/>
                </a:solidFill>
              </a:defRPr>
            </a:pPr>
            <a:r>
              <a:t>Dual-path ASR: live partial + accurate final</a:t>
            </a:r>
          </a:p>
          <a:p>
            <a:pPr marL="342900" indent="-342900">
              <a:spcBef>
                <a:spcPts val="500"/>
              </a:spcBef>
              <a:buSzPct val="100000"/>
              <a:buChar char="•"/>
              <a:defRPr sz="1200">
                <a:solidFill>
                  <a:srgbClr val="FFFFFF"/>
                </a:solidFill>
              </a:defRPr>
            </a:pPr>
            <a:r>
              <a:t>Clean modular 5-stage extensible architecture</a:t>
            </a:r>
          </a:p>
        </p:txBody>
      </p:sp>
      <p:sp>
        <p:nvSpPr>
          <p:cNvPr id="283" name="Shape 9"/>
          <p:cNvSpPr/>
          <p:nvPr/>
        </p:nvSpPr>
        <p:spPr>
          <a:xfrm>
            <a:off x="4681728" y="886966"/>
            <a:ext cx="4133090" cy="4005073"/>
          </a:xfrm>
          <a:prstGeom prst="rect">
            <a:avLst/>
          </a:prstGeom>
          <a:solidFill>
            <a:srgbClr val="112040"/>
          </a:solidFill>
          <a:ln w="22860">
            <a:solidFill>
              <a:srgbClr val="0277BD"/>
            </a:solidFill>
          </a:ln>
          <a:effectLst>
            <a:outerShdw sx="100000" sy="100000" kx="0" ky="0" algn="b" rotWithShape="0" blurRad="127000" dist="38100" dir="81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4" name="Shape 10"/>
          <p:cNvSpPr/>
          <p:nvPr/>
        </p:nvSpPr>
        <p:spPr>
          <a:xfrm>
            <a:off x="4681728" y="886966"/>
            <a:ext cx="4133090" cy="457202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5" name="Text 11"/>
          <p:cNvSpPr txBox="1"/>
          <p:nvPr/>
        </p:nvSpPr>
        <p:spPr>
          <a:xfrm>
            <a:off x="4681728" y="1020887"/>
            <a:ext cx="413309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→  Future Work</a:t>
            </a:r>
          </a:p>
        </p:txBody>
      </p:sp>
      <p:sp>
        <p:nvSpPr>
          <p:cNvPr id="286" name="Text 12"/>
          <p:cNvSpPr txBox="1"/>
          <p:nvPr/>
        </p:nvSpPr>
        <p:spPr>
          <a:xfrm>
            <a:off x="4791454" y="1464563"/>
            <a:ext cx="3875535" cy="1503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100" tIns="38100" rIns="38100" bIns="38100">
            <a:spAutoFit/>
          </a:bodyPr>
          <a:lstStyle/>
          <a:p>
            <a:pPr marL="342900" indent="-342900">
              <a:spcBef>
                <a:spcPts val="500"/>
              </a:spcBef>
              <a:buSzPct val="100000"/>
              <a:buChar char="•"/>
              <a:defRPr sz="1200">
                <a:solidFill>
                  <a:srgbClr val="FFFFFF"/>
                </a:solidFill>
              </a:defRPr>
            </a:pPr>
            <a:r>
              <a:t>More language pairs (Tamil, Kannada, Bengali)</a:t>
            </a:r>
          </a:p>
          <a:p>
            <a:pPr marL="342900" indent="-342900">
              <a:spcBef>
                <a:spcPts val="500"/>
              </a:spcBef>
              <a:buSzPct val="100000"/>
              <a:buChar char="•"/>
              <a:defRPr sz="1200">
                <a:solidFill>
                  <a:srgbClr val="FFFFFF"/>
                </a:solidFill>
              </a:defRPr>
            </a:pPr>
            <a:r>
              <a:t>Speaker diarization for 2-person conversations</a:t>
            </a:r>
          </a:p>
          <a:p>
            <a:pPr marL="342900" indent="-342900">
              <a:spcBef>
                <a:spcPts val="500"/>
              </a:spcBef>
              <a:buSzPct val="100000"/>
              <a:buChar char="•"/>
              <a:defRPr sz="1200">
                <a:solidFill>
                  <a:srgbClr val="FFFFFF"/>
                </a:solidFill>
              </a:defRPr>
            </a:pPr>
            <a:r>
              <a:t>Mobile deployment via ONNX (Android / iOS)</a:t>
            </a:r>
          </a:p>
          <a:p>
            <a:pPr marL="342900" indent="-342900">
              <a:spcBef>
                <a:spcPts val="500"/>
              </a:spcBef>
              <a:buSzPct val="100000"/>
              <a:buChar char="•"/>
              <a:defRPr sz="1200">
                <a:solidFill>
                  <a:srgbClr val="FFFFFF"/>
                </a:solidFill>
              </a:defRPr>
            </a:pPr>
            <a:r>
              <a:t>WER / BLEU formal evaluation on benchmarks</a:t>
            </a:r>
          </a:p>
          <a:p>
            <a:pPr marL="342900" indent="-342900">
              <a:spcBef>
                <a:spcPts val="500"/>
              </a:spcBef>
              <a:buSzPct val="100000"/>
              <a:buChar char="•"/>
              <a:defRPr sz="1200">
                <a:solidFill>
                  <a:srgbClr val="FFFFFF"/>
                </a:solidFill>
              </a:defRPr>
            </a:pPr>
            <a:r>
              <a:t>Noise-robust VAD for real-world environments</a:t>
            </a:r>
          </a:p>
          <a:p>
            <a:pPr marL="342900" indent="-342900">
              <a:spcBef>
                <a:spcPts val="500"/>
              </a:spcBef>
              <a:buSzPct val="100000"/>
              <a:buChar char="•"/>
              <a:defRPr sz="1200">
                <a:solidFill>
                  <a:srgbClr val="FFFFFF"/>
                </a:solidFill>
              </a:defRPr>
            </a:pPr>
            <a:r>
              <a:t>Streaming TTS for sub-1.5 s perceived latency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Shape 0"/>
          <p:cNvSpPr/>
          <p:nvPr/>
        </p:nvSpPr>
        <p:spPr>
          <a:xfrm>
            <a:off x="-1" y="0"/>
            <a:ext cx="164594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9" name="Shape 1"/>
          <p:cNvSpPr/>
          <p:nvPr/>
        </p:nvSpPr>
        <p:spPr>
          <a:xfrm>
            <a:off x="0" y="4732020"/>
            <a:ext cx="9144000" cy="41148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90" name="Text 2"/>
          <p:cNvSpPr txBox="1"/>
          <p:nvPr/>
        </p:nvSpPr>
        <p:spPr>
          <a:xfrm>
            <a:off x="256031" y="871936"/>
            <a:ext cx="8686801" cy="751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5800">
                <a:solidFill>
                  <a:srgbClr val="FFFFFF"/>
                </a:solidFill>
              </a:defRPr>
            </a:lvl1pPr>
          </a:lstStyle>
          <a:p>
            <a:pPr/>
            <a:r>
              <a:t>Thank You</a:t>
            </a:r>
          </a:p>
        </p:txBody>
      </p:sp>
      <p:sp>
        <p:nvSpPr>
          <p:cNvPr id="291" name="Text 3"/>
          <p:cNvSpPr txBox="1"/>
          <p:nvPr/>
        </p:nvSpPr>
        <p:spPr>
          <a:xfrm>
            <a:off x="256031" y="1861782"/>
            <a:ext cx="8686801" cy="1184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i="1" sz="2600">
                <a:solidFill>
                  <a:srgbClr val="80DEEA"/>
                </a:solidFill>
              </a:defRPr>
            </a:pPr>
            <a:r>
              <a:t>Video is uploaded in below Google drive link: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 invalidUrl="" action="" tgtFrame="" tooltip="" history="1" highlightClick="0" endSnd="0"/>
              </a:rPr>
              <a:t>https://drive.google.com/drive/folders/14eaCsZe_iCxT_sAZBL98bBglNLywE4sh</a:t>
            </a:r>
          </a:p>
        </p:txBody>
      </p:sp>
      <p:sp>
        <p:nvSpPr>
          <p:cNvPr id="292" name="Shape 4"/>
          <p:cNvSpPr/>
          <p:nvPr/>
        </p:nvSpPr>
        <p:spPr>
          <a:xfrm>
            <a:off x="2560320" y="3291840"/>
            <a:ext cx="4023360" cy="475488"/>
          </a:xfrm>
          <a:prstGeom prst="rect">
            <a:avLst/>
          </a:prstGeom>
          <a:solidFill>
            <a:srgbClr val="161B22"/>
          </a:solidFill>
          <a:ln w="15240">
            <a:solidFill>
              <a:srgbClr val="80DEEA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93" name="Text 5"/>
          <p:cNvSpPr txBox="1"/>
          <p:nvPr/>
        </p:nvSpPr>
        <p:spPr>
          <a:xfrm>
            <a:off x="2651760" y="3370755"/>
            <a:ext cx="3840480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100">
                <a:solidFill>
                  <a:srgbClr val="78909C"/>
                </a:solidFill>
              </a:defRPr>
            </a:pPr>
            <a:r>
              <a:t>GitHub: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 invalidUrl="" action="" tgtFrame="" tooltip="" history="1" highlightClick="0" endSnd="0"/>
              </a:rPr>
              <a:t>github.com/ManmadhaKuttum/CornerStone_COP7001/final-presentation</a:t>
            </a:r>
          </a:p>
        </p:txBody>
      </p:sp>
      <p:sp>
        <p:nvSpPr>
          <p:cNvPr id="294" name="Text 6"/>
          <p:cNvSpPr txBox="1"/>
          <p:nvPr/>
        </p:nvSpPr>
        <p:spPr>
          <a:xfrm>
            <a:off x="256031" y="3972359"/>
            <a:ext cx="868680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200">
                <a:solidFill>
                  <a:srgbClr val="78909C"/>
                </a:solidFill>
              </a:defRPr>
            </a:pPr>
            <a:r>
              <a:t>mcs252743@iitd.ac.in  | 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4" invalidUrl="" action="" tgtFrame="" tooltip="" history="1" highlightClick="0" endSnd="0"/>
              </a:rPr>
              <a:t>mcs252101@iitd.ac.in</a:t>
            </a:r>
          </a:p>
        </p:txBody>
      </p:sp>
      <p:sp>
        <p:nvSpPr>
          <p:cNvPr id="295" name="Text 7"/>
          <p:cNvSpPr txBox="1"/>
          <p:nvPr/>
        </p:nvSpPr>
        <p:spPr>
          <a:xfrm>
            <a:off x="256031" y="4856910"/>
            <a:ext cx="86868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0A1628"/>
                </a:solidFill>
              </a:defRPr>
            </a:lvl1pPr>
          </a:lstStyle>
          <a:p>
            <a:pPr/>
            <a:r>
              <a:t>COP7001 CornerStone Project   |   IIT Delhi   |  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